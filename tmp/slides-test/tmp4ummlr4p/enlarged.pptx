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dd1f23e01e40e1" Type="http://schemas.openxmlformats.org/officeDocument/2006/relationships/extended-properties" Target="docProps/app.xml"/><Relationship Id="R49307d9aa7344119" Type="http://schemas.openxmlformats.org/package/2006/relationships/metadata/core-properties" Target="docProps/core.xml"/><Relationship Id="Rc4d9a8d8918d42e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8376a71044b32"/>
  </p:sldMasterIdLst>
  <p:notesMasterIdLst>
    <p:notesMasterId xmlns:r="http://schemas.openxmlformats.org/officeDocument/2006/relationships" r:id="R06bef5d56fc144dc"/>
  </p:notesMasterIdLst>
  <p:sldIdLst>
    <p:sldId xmlns:r="http://schemas.openxmlformats.org/officeDocument/2006/relationships" id="256" r:id="Rcdb6a2bdb89a4994"/>
    <p:sldId xmlns:r="http://schemas.openxmlformats.org/officeDocument/2006/relationships" id="257" r:id="Rb525184a634a4442"/>
    <p:sldId xmlns:r="http://schemas.openxmlformats.org/officeDocument/2006/relationships" id="258" r:id="R53896531d7b043a6"/>
    <p:sldId xmlns:r="http://schemas.openxmlformats.org/officeDocument/2006/relationships" id="259" r:id="R6e60e8e4a81f4d98"/>
    <p:sldId xmlns:r="http://schemas.openxmlformats.org/officeDocument/2006/relationships" id="260" r:id="Rfb48acf43e674b90"/>
    <p:sldId xmlns:r="http://schemas.openxmlformats.org/officeDocument/2006/relationships" id="261" r:id="Rd281e60db6374e29"/>
    <p:sldId xmlns:r="http://schemas.openxmlformats.org/officeDocument/2006/relationships" id="262" r:id="Rfe1e769c949f4e26"/>
    <p:sldId xmlns:r="http://schemas.openxmlformats.org/officeDocument/2006/relationships" id="263" r:id="Rc7daa28bd05e4253"/>
    <p:sldId xmlns:r="http://schemas.openxmlformats.org/officeDocument/2006/relationships" id="264" r:id="R218f088854184ea6"/>
    <p:sldId xmlns:r="http://schemas.openxmlformats.org/officeDocument/2006/relationships" id="265" r:id="R107fa6d116be495e"/>
    <p:sldId xmlns:r="http://schemas.openxmlformats.org/officeDocument/2006/relationships" id="266" r:id="Rd973a5e8011d45cc"/>
    <p:sldId xmlns:r="http://schemas.openxmlformats.org/officeDocument/2006/relationships" id="267" r:id="R8536f3f8f26b494f"/>
    <p:sldId xmlns:r="http://schemas.openxmlformats.org/officeDocument/2006/relationships" id="268" r:id="Rede1c11cdef441b6"/>
    <p:sldId xmlns:r="http://schemas.openxmlformats.org/officeDocument/2006/relationships" id="269" r:id="R3a1802f762064bde"/>
    <p:sldId xmlns:r="http://schemas.openxmlformats.org/officeDocument/2006/relationships" id="270" r:id="R36b3a797ea5e4c76"/>
    <p:sldId xmlns:r="http://schemas.openxmlformats.org/officeDocument/2006/relationships" id="271" r:id="R2d347e6b97a340a6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bef5d56fc144dc" Type="http://schemas.openxmlformats.org/officeDocument/2006/relationships/notesMaster" Target="notesMasters/notesMaster1.xml"/><Relationship Id="R107fa6d116be495e" Type="http://schemas.openxmlformats.org/officeDocument/2006/relationships/slide" Target="slides/slide10.xml"/><Relationship Id="R19f783bfd372441d" Type="http://schemas.openxmlformats.org/officeDocument/2006/relationships/theme" Target="theme/theme1.xml"/><Relationship Id="R218f088854184ea6" Type="http://schemas.openxmlformats.org/officeDocument/2006/relationships/slide" Target="slides/slide9.xml"/><Relationship Id="R2d347e6b97a340a6" Type="http://schemas.openxmlformats.org/officeDocument/2006/relationships/slide" Target="slides/slide16.xml"/><Relationship Id="R36b3a797ea5e4c76" Type="http://schemas.openxmlformats.org/officeDocument/2006/relationships/slide" Target="slides/slide15.xml"/><Relationship Id="R3a1802f762064bde" Type="http://schemas.openxmlformats.org/officeDocument/2006/relationships/slide" Target="slides/slide14.xml"/><Relationship Id="R53896531d7b043a6" Type="http://schemas.openxmlformats.org/officeDocument/2006/relationships/slide" Target="slides/slide3.xml"/><Relationship Id="R59f8376a71044b32" Type="http://schemas.openxmlformats.org/officeDocument/2006/relationships/slideMaster" Target="slideMasters/slideMaster1.xml"/><Relationship Id="R5fd2fac0c76e417d" Type="http://schemas.openxmlformats.org/officeDocument/2006/relationships/tableStyles" Target="tableStyles.xml"/><Relationship Id="R6e60e8e4a81f4d98" Type="http://schemas.openxmlformats.org/officeDocument/2006/relationships/slide" Target="slides/slide4.xml"/><Relationship Id="R8536f3f8f26b494f" Type="http://schemas.openxmlformats.org/officeDocument/2006/relationships/slide" Target="slides/slide12.xml"/><Relationship Id="Rb525184a634a4442" Type="http://schemas.openxmlformats.org/officeDocument/2006/relationships/slide" Target="slides/slide2.xml"/><Relationship Id="Rc7daa28bd05e4253" Type="http://schemas.openxmlformats.org/officeDocument/2006/relationships/slide" Target="slides/slide8.xml"/><Relationship Id="Rcdb6a2bdb89a4994" Type="http://schemas.openxmlformats.org/officeDocument/2006/relationships/slide" Target="slides/slide1.xml"/><Relationship Id="Rd281e60db6374e29" Type="http://schemas.openxmlformats.org/officeDocument/2006/relationships/slide" Target="slides/slide6.xml"/><Relationship Id="Rd973a5e8011d45cc" Type="http://schemas.openxmlformats.org/officeDocument/2006/relationships/slide" Target="slides/slide11.xml"/><Relationship Id="Red9c37aaa55d4092" Type="http://schemas.openxmlformats.org/officeDocument/2006/relationships/presProps" Target="presProps.xml"/><Relationship Id="Rede1c11cdef441b6" Type="http://schemas.openxmlformats.org/officeDocument/2006/relationships/slide" Target="slides/slide13.xml"/><Relationship Id="Rfb48acf43e674b90" Type="http://schemas.openxmlformats.org/officeDocument/2006/relationships/slide" Target="slides/slide5.xml"/><Relationship Id="Rfe1e769c949f4e2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573d451fd41746f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d5f8369a36e40be" Type="http://schemas.openxmlformats.org/officeDocument/2006/relationships/notesMaster" Target="../notesMasters/notesMaster1.xml"/><Relationship Id="Rc9270fa40cac420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bda570d8eae4aa0" Type="http://schemas.openxmlformats.org/officeDocument/2006/relationships/notesMaster" Target="../notesMasters/notesMaster1.xml"/><Relationship Id="R6b388f6e3b4d49b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5875fd18d0b4c15" Type="http://schemas.openxmlformats.org/officeDocument/2006/relationships/slide" Target="../slides/slide3.xml"/><Relationship Id="Re46d2eab8f744f0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02819a6a70c41ea" Type="http://schemas.openxmlformats.org/officeDocument/2006/relationships/notesMaster" Target="../notesMasters/notesMaster1.xml"/><Relationship Id="Rbfae812df55e48a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b13ee0c02154dd3" Type="http://schemas.openxmlformats.org/officeDocument/2006/relationships/slide" Target="../slides/slide5.xml"/><Relationship Id="Rf9824655ed46424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a06c92114fa4b93" Type="http://schemas.openxmlformats.org/officeDocument/2006/relationships/slide" Target="../slides/slide6.xml"/><Relationship Id="Ra70fa5976fbc487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75ad203aa4340a2" Type="http://schemas.openxmlformats.org/officeDocument/2006/relationships/notesMaster" Target="../notesMasters/notesMaster1.xml"/><Relationship Id="Re45b709d09e0410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815305fee474c92" Type="http://schemas.openxmlformats.org/officeDocument/2006/relationships/slide" Target="../slides/slide8.xml"/><Relationship Id="Rdd5d69f66c704a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cef23980fb664585" Type="http://schemas.openxmlformats.org/officeDocument/2006/relationships/slide" Target="../slides/slide9.xml"/><Relationship Id="Rd30c7cbed2294e3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c736870f9684fc5" Type="http://schemas.openxmlformats.org/officeDocument/2006/relationships/notesMaster" Target="../notesMasters/notesMaster1.xml"/><Relationship Id="R492f189ba7154db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3cfa389823c43c5" Type="http://schemas.openxmlformats.org/officeDocument/2006/relationships/slide" Target="../slides/slide11.xml"/><Relationship Id="R93d7eed0635d4cd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a82caa42d8c346af" Type="http://schemas.openxmlformats.org/officeDocument/2006/relationships/notesMaster" Target="../notesMasters/notesMaster1.xml"/><Relationship Id="Rfe91f4d655b64ea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03c5b6dd0b3b4f02" Type="http://schemas.openxmlformats.org/officeDocument/2006/relationships/slide" Target="../slides/slide13.xml"/><Relationship Id="R2504526741544ba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a7ac1a8f2edb44ad" Type="http://schemas.openxmlformats.org/officeDocument/2006/relationships/slide" Target="../slides/slide14.xml"/><Relationship Id="Raef5bce7fded4fb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89a14f073174514" Type="http://schemas.openxmlformats.org/officeDocument/2006/relationships/slide" Target="../slides/slide15.xml"/><Relationship Id="R4119a88040ac48e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ee5e8827b2d4270" Type="http://schemas.openxmlformats.org/officeDocument/2006/relationships/notesMaster" Target="../notesMasters/notesMaster1.xml"/><Relationship Id="Re7811e46ad3445ed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- AI-generated visual, OpenAI ImageGen, 2026-08-28.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типов заявок и файлов,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названий объектов,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 supported formats: https://docling-project.github.io/docling/usage/supported_formats/</a:t>
            </a:r>
          </a:p>
          <a:p xmlns:a="http://schemas.openxmlformats.org/drawingml/2006/main">
            <a:r>
              <a:t>- Qwen3-VL: https://github.com/QwenLM/Qwen3-VL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DoclingDocument: https://docling-project.github.io/docling/concepts/docling_document/</a:t>
            </a:r>
          </a:p>
          <a:p xmlns:a="http://schemas.openxmlformats.org/drawingml/2006/main">
            <a:r>
              <a:t>- BGE-M3: https://github.com/FlagOpen/FlagEmbedding/blob/master/docs/source/bge/bge_m3.rst</a:t>
            </a:r>
          </a:p>
          <a:p xmlns:a="http://schemas.openxmlformats.org/drawingml/2006/main">
            <a:r>
              <a:t>- Grounding DINO: https://github.com/IDEA-Research/GroundingDINO</a:t>
            </a:r>
          </a:p>
          <a:p xmlns:a="http://schemas.openxmlformats.org/drawingml/2006/main">
            <a:r>
              <a:t>- ezdxf: https://ezdxf.readthedocs.io/_/downloads/en/master/pdf/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ComfyUI: https://github.com/Comfy-Org/ComfyUI</a:t>
            </a:r>
          </a:p>
          <a:p xmlns:a="http://schemas.openxmlformats.org/drawingml/2006/main">
            <a:r>
              <a:t>- FLUX.1 Kontext workflow: https://docs.comfy.org/tutorials/partner-nodes/black-forest-labs/flux-1-kontext</a:t>
            </a:r>
          </a:p>
          <a:p xmlns:a="http://schemas.openxmlformats.org/drawingml/2006/main">
            <a:r>
              <a:t>- Qwen Image Edit: https://qwenlm.github.io/blog/qwen-image-edit/</a:t>
            </a:r>
          </a:p>
          <a:p xmlns:a="http://schemas.openxmlformats.org/drawingml/2006/main">
            <a:r>
              <a:t>- Hugging Face Diffusers LoRA: https://huggingface.co/docs/diffusers/training/lora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Qwen3 training / LoRA: https://github.com/QwenLM/Qwen3/blob/main/docs/source/training/ms_swift.md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GeForce RTX 5090: https://marketplace.nvidia.com/en-us/consumer/graphics-cards/geforce-rtx-5090-founders-edition/</a:t>
            </a:r>
          </a:p>
          <a:p xmlns:a="http://schemas.openxmlformats.org/drawingml/2006/main">
            <a:r>
              <a:t>- NVIDIA RTX PRO 6000: https://www.nvidia.com/en-us/products/workstations/professional-desktop-gpus/rtx-pro-6000/</a:t>
            </a:r>
          </a:p>
          <a:p xmlns:a="http://schemas.openxmlformats.org/drawingml/2006/main">
            <a:r>
              <a:t>- AMD Threadripper PRO 9995WX: https://www.amd.com/en/products/processors/workstations/ryzen-threadripper/9000-wx-series/amd-ryzen-threadripper-pro-9995wx.html</a:t>
            </a:r>
          </a:p>
          <a:p xmlns:a="http://schemas.openxmlformats.org/drawingml/2006/main">
            <a:r>
              <a:t>- AI Toolkit FLUX LoRA FAQ: https://github.com/ostris/ai-toolkit/blob/main/FAQ.md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5bfb1808c824e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8034cff95404f73" Type="http://schemas.openxmlformats.org/officeDocument/2006/relationships/slideLayout" Target="../slideLayouts/slideLayout1.xml"/><Relationship Id="Reae5df147fc44ec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034cff95404f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91649b706154b6f" Type="http://schemas.openxmlformats.org/officeDocument/2006/relationships/slideLayout" Target="../slideLayouts/slideLayout1.xml"/><Relationship Id="Rcd243e858d044497" Type="http://schemas.openxmlformats.org/officeDocument/2006/relationships/notesSlide" Target="../notesSlides/notesSlide1.xml"/><Relationship Id="Rf906eefcfe8845d9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1015e95262ac4ceb" Type="http://schemas.openxmlformats.org/officeDocument/2006/relationships/notesSlide" Target="../notesSlides/notesSlide2.xml"/><Relationship Id="R380825a00fc34d9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c05929ceee2b4476" Type="http://schemas.openxmlformats.org/officeDocument/2006/relationships/notesSlide" Target="../notesSlides/notesSlide3.xml"/><Relationship Id="Rebdcad085f424c4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23213f3e5c84d0c" Type="http://schemas.openxmlformats.org/officeDocument/2006/relationships/notesSlide" Target="../notesSlides/notesSlide4.xml"/><Relationship Id="R8d06677bbba84e8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0090ef4fbd74c26" Type="http://schemas.openxmlformats.org/officeDocument/2006/relationships/notesSlide" Target="../notesSlides/notesSlide5.xml"/><Relationship Id="Rd9f8ec4698b342c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7d4e8f9d7464c7e" Type="http://schemas.openxmlformats.org/officeDocument/2006/relationships/slideLayout" Target="../slideLayouts/slideLayout1.xml"/><Relationship Id="R348d31e4f89d49e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9fa3d3a09d04123" Type="http://schemas.openxmlformats.org/officeDocument/2006/relationships/notesSlide" Target="../notesSlides/notesSlide7.xml"/><Relationship Id="Ra2b2269e7b4e4f2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f0fd28177c440c7" Type="http://schemas.openxmlformats.org/officeDocument/2006/relationships/slideLayout" Target="../slideLayouts/slideLayout1.xml"/><Relationship Id="Raa7e84d2e4b34fa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dbc128493b848a5" Type="http://schemas.openxmlformats.org/officeDocument/2006/relationships/notesSlide" Target="../notesSlides/notesSlide9.xml"/><Relationship Id="Re4376c9f4ae84d7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049ad11c8f24fb5" Type="http://schemas.openxmlformats.org/officeDocument/2006/relationships/notesSlide" Target="../notesSlides/notesSlide10.xml"/><Relationship Id="Rfdc505dab674491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377e071f0464aac" Type="http://schemas.openxmlformats.org/officeDocument/2006/relationships/notesSlide" Target="../notesSlides/notesSlide11.xml"/><Relationship Id="Rcdb2861223ea447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d5b275be2829424c" Type="http://schemas.openxmlformats.org/officeDocument/2006/relationships/slideLayout" Target="../slideLayouts/slideLayout1.xml"/><Relationship Id="Re76189c193c04d4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d797db6fafb402d" Type="http://schemas.openxmlformats.org/officeDocument/2006/relationships/slideLayout" Target="../slideLayouts/slideLayout1.xml"/><Relationship Id="Rf038640a3c7e424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3abc0ff59b4d4f6b" Type="http://schemas.openxmlformats.org/officeDocument/2006/relationships/slideLayout" Target="../slideLayouts/slideLayout1.xml"/><Relationship Id="Rdf212f8a93f44ea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1d50476793b4b3b" Type="http://schemas.openxmlformats.org/officeDocument/2006/relationships/slideLayout" Target="../slideLayouts/slideLayout1.xml"/><Relationship Id="R8af3334830fc4bb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1500157138d4368" Type="http://schemas.openxmlformats.org/officeDocument/2006/relationships/notesSlide" Target="../notesSlides/notesSlide16.xml"/><Relationship Id="Rc852ad3fc0de445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6eefcfe8845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AA4D8-613C-4B22-AB08-7E034C00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C5837-B585-488E-924C-B6CF938A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98C9C-19D1-4809-A202-7FD1D724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1445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29CA7-8558-4016-88BB-ED846355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71600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СТРАТЕГИЯ •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9B675-6334-4309-8C88-72E19CF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4810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Автоматизация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обложек и описаний КП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09311-9AB4-4407-B557-F3011761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Четыре варианта решения и поэтапный план внедрения AI в рабочий процесс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CD22F-25EA-45EE-8BCF-D747601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43A61-2520-42B8-8FBA-6D380D13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Главный принцип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77E2A-5B31-4078-8236-05BCCEE1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Сначала данные и контроль качества.</a:t>
            </a:r>
          </a:p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Потом — автоматизация решений.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C4AD4-49F4-4AA2-9448-FD24E7B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53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Рабочая концепция для обсуждения</a:t>
            </a:r>
          </a:p>
        </p:txBody>
      </p:sp>
    </p:spTree>
    <p:extLst>
      <p:ext uri="{BB962C8B-B14F-4D97-AF65-F5344CB8AC3E}">
        <p14:creationId xmlns:p14="http://schemas.microsoft.com/office/powerpoint/2010/main" val="1365535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AB109-A66F-422B-A55A-D75678A5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A28BB-14D4-42E6-B869-E55B68D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КОРОТКИЙ 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70665-6E46-407A-BC0F-1E82DA4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Рекомендация: идти ступенями, а не прыгать сразу в «полный AI»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E51C0-9B9C-4F66-BCFF-1F6AF9C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EE7B0-CD2C-4E1C-B0FE-03A41D4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18CF2-9CDD-4668-8AD6-8A569AD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F5460-9AE8-4AF9-8BBC-CBC1973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908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Надёжная автоматизация возможна только после появления таксономии систем, библиотеки изображений, карточек оборудования и размеченных примеров.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A2CF0-19BE-4535-A3A8-0FCF95E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D43A4-DFDB-4C7F-A2DA-D1EF559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68616-2126-43C3-915C-EAD8B208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ECF09-B86A-43E6-AFFD-4630E76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DFE92-7A0E-41CC-A8BB-8C6CB6B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Статичная универсальная обложка — без ошибок и ожидания дизайнеров.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3B550-2E0A-4C0A-AF6F-AF00F366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69C33-30EB-4E8A-A966-A7F133A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06081-FD2E-4FBB-A884-DB4E64E1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268CD-7E6A-4F0B-BE9C-0EC7901C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Параллельно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C7099-E1B6-469E-AA8B-F6AA5D1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Собрать источники, роли, словарь назначений и эталонные КП.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01940-CDA5-4A49-8383-6E4C8CB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AEEE4-E9F4-4246-B122-6E80347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AD2FC-409C-4AFD-A1AC-2933E5B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8FD1C-7F71-49A2-B30E-571C657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После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4B89E-4C1F-43B6-AAF6-9DACB8B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Запустить весовой классификатор и измерить точность на истории.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CD2DD-6A24-44CF-9F57-7B56AC1C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2B8FF-89FF-48C6-B48C-90E04D37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EA723-C663-455A-86ED-DF9EFD2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1D7D7-7EB7-450D-B7C2-414CBCA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Затем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62D70-9216-482A-AC30-C8EB75EA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Подключить AI-анализ писем и файлов, генерацию текста и обложек.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F5741-D5CC-4EA8-ACC2-662A06F5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67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Так мы получаем пользу сразу и не превращаем проект в шестимесячное ожидание 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1945711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2150C-E937-4A65-A8FD-9562F8EB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36620-1227-402B-A3FF-2A27D089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ПОЧЕМУ ЗАДАЧА СЛОЖНЕЕ, ЧЕМ ВЫБОР КАРТИНКИ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89608-EA9D-4DF6-BD72-0205BF6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Исходные данные не образуют единого технического задания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099EB-6B19-4191-A7AC-E5EC372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418CC-DD6C-4802-8362-C002D45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53725-CB68-481F-B85F-564B887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B5A26-9A2B-4824-8207-5B0CC9B6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6A416-ABC1-4A8A-BA42-6109E6E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90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DC0DC-FA1E-48B1-B8FC-7B4B6FB6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«Дайте подбор!»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6FAE6-7DD7-4C41-90A5-B7E16E3C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Одно предложение без назначения, состава и ограничений.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7FCBC-FE9B-4DF5-B5BE-D4CF5AF7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43DA4-C158-47A7-8ED9-4A6FA79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8F017-ACD8-4612-922E-EE1458B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C14EA-FD53-4FD7-82B2-7797A4F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«Подберите замену»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AC62A-C633-40BD-8256-D5B369DF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Спецификация может быть текстом, сканом или картинкой — иногда без количества.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0680-17A1-4F5B-B62D-408856DD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D0B54-A71A-4D96-8C26-09BC256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91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23F41-B3C8-405C-BB7A-955C08C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8E6CD-96CD-4D65-849A-6F0D3F52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Чертёж с расстановкой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A7D04-13CE-4ACD-B5ED-C98107D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PDF, JPEG или DWG; обозначения, слои и качество отличаются.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F2FC2-62AB-4510-85F6-1F95814C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2F8FB-C743-4F7A-99D6-952C2C1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37443-E65D-450A-B322-8E763170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3AADB-20DE-4D01-A36D-537B951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Голая спецификация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281B6-B960-4B2F-83B2-85FBDD8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Перечень позиций ещё не объясняет сценарий использования системы.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9C132-E38D-4B94-9CFB-C749286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972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EDBE6-A907-4D3C-B4D2-D092054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6512"/>
                </a:solidFill>
              </a:defRPr>
            </a:pPr>
            <a:r>
              <a:rPr sz="975" b="1">
                <a:solidFill>
                  <a:srgbClr val="B66512"/>
                </a:solidFill>
              </a:rPr>
              <a:t>Ключевое ограничение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F3C99-AE34-48C9-8B7C-D3534547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43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AI может извлечь и сопоставить присутствующие факты, но не может восстановить отсутствующие требования без риска выдумать их.</a:t>
            </a:r>
          </a:p>
        </p:txBody>
      </p:sp>
    </p:spTree>
    <p:extLst>
      <p:ext uri="{BB962C8B-B14F-4D97-AF65-F5344CB8AC3E}">
        <p14:creationId xmlns:p14="http://schemas.microsoft.com/office/powerpoint/2010/main" val="1097842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E07CD-4C22-4AB4-BB19-9AF1CD6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650B-182D-48BD-96A1-C054BAD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КЛАССИФИКАЦИЯ НАЗНАЧЕНИЯ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6C242-2B6C-480A-94E8-689BAB6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Название объекта отвечает на вопрос «где», но не «что строим»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D81ED-FBA8-4062-BB34-DFDF770F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80331-DD82-40D1-B331-3B60050E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C4B04-7F59-4AB5-AD29-DBEF2CA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334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1C4C5-99FC-45DE-AEF6-086216B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Примеры поля «Объект»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2E5BE-8C20-4991-9C0B-02157C16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627B2-0483-498F-AB5B-28C66F7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Стоматологическая поликлиника №2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BC0C4-F921-4B73-9887-53CD2F9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377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02695-44E1-4651-B8BD-334A687B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Корякская окружная больница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67470-C79A-4BA1-9FE2-EAA7F011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C1E85-3B75-4A78-815D-C3C0E76D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Административно-бытовой комплекс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FF6C-67C0-42C9-B8C3-309C10E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8152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1F4C9-1429-4B84-8ADA-76CDC8B4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Фабрика по переработке углей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E37B8-9FE3-41B8-AE6C-31CDB4E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1A84F-78E8-49BF-BABB-E99C156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625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Капитальный ремонт общежития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5E338-0507-4B51-BBAA-C7B98164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Один и тот же объект может требовать СОУЭ, трансляцию, конференц-связь, фоновую музыку или несколько систем одновременно.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7E0BF-7BD2-4938-88BC-B52BC2C4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87530-889C-498D-80F1-9999F5F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4572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D9C91-69D2-466B-AE2B-813CB3B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Назначение системы определяется сочетанием: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128DF-2234-446B-9726-83B91D84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62342-C056-4E57-8B58-06A97AB9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Состава оборудования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6C8D6-3D05-4E20-8195-0F97641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528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Модели, категории, количества, бренды и совместимость.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DE7F6-3B61-46AF-833B-F61E8923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2432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05F38-BD79-4B5E-B137-84EB9A6A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Контекста заявки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43736-1E3B-44FF-A381-EEA00A3D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338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Формулировки в письмах, ТЗ, схемах, примечаниях.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394D8-6F10-46DA-8C40-017FEE7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053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09B07-2F54-42AD-9C3C-92242FA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Инженерных признаков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30DA2-64E4-4A52-BC35-9AADA9A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149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Топология, зоны, каналы, мощность, резервирование.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99728-ECDE-4D44-A7C3-B241529B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229350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AA589-274D-48FD-A595-8A880A1E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81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Поле «Объект» — лишь слабый дополнительный сигнал</a:t>
            </a:r>
          </a:p>
        </p:txBody>
      </p:sp>
    </p:spTree>
    <p:extLst>
      <p:ext uri="{BB962C8B-B14F-4D97-AF65-F5344CB8AC3E}">
        <p14:creationId xmlns:p14="http://schemas.microsoft.com/office/powerpoint/2010/main" val="1849271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7" name="Rectangle 9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6" name="Rectangle 9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5" name="Rectangle 9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4" name="Rectangle 9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EA688F-F54E-4E85-89F1-088FFB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9A8A-31C7-4C6C-A503-6A38BC6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КАРТА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B3158-FC99-4402-9A96-13231E3A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Четыре варианта — от мгновенного компромисса до AI-платформы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25D94-1A54-4023-A95A-4DB4EED5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CC4CD-BD33-4790-AAAB-A99D725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F117-E8B9-4C72-87DF-1F5FE93E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2533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ABA4E-F7EF-43AD-853F-EC6377B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Вариант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BDF90-5E87-48E8-9646-51863FBD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E75AA-3F0D-47E8-ACEB-977BDC2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Запуск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05027-B6BB-441F-931B-12296EF3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292A3-059C-4E14-8D48-BEE4F801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Автоматизация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D10A2-7F73-41CE-B13C-9AC32C5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3A4B7-3E2E-4EB9-B1F8-014D2853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F89FB-07C5-487B-B66F-87221F4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7D4E4-72C2-478C-8D79-8BDCB680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Зависимость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AC587-12D2-4DCF-A7E5-EB4EE93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18C70-D6F6-4DBA-85F7-CC7A8271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288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Вывод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16E42-EE2E-400D-B91F-CA71E0A8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DF803-8036-40D7-9BA7-34191BA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298DF-BC69-44D4-97CF-646AEC0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241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1. Ручной выбор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C14B6-3447-4874-9720-0CEDB06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38BCA-78AD-432C-8FDD-41DB22C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B3383-D37A-4847-BE35-85A20B3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6+ мес.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40E54-79FF-4158-884C-565BBAD6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CCA7B-C41C-4597-A218-15AB20A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297A5-5694-48A1-A49E-C44142CA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44297-440D-47A5-BD5A-7A5F860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1755E-585D-445A-8562-4B4177D4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07DD2-2494-43B9-9EEB-C269695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C9566-8E90-4780-AD30-1834E76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E2E80-804F-44A3-9425-56805FCE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72429-CF25-4F6D-BDA6-837CBB0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Дизайнеры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460C27-8D28-40EC-B71C-0C75086A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43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AC863-5B86-4751-937A-CA08EDC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766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F151E9-1507-4EC1-85AB-2366170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Понятно, но долго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E69D58-7B28-4EDB-BC50-C52620A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D580C-0D81-4045-A608-F118DA8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A90260-1E47-4028-A6C0-7E097693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2. Веса + библиотека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AB6CEF-AD4D-4EAB-9639-2E05B879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F32558-2449-42BE-A260-5F64E4B1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845F2E-6112-4213-9F12-89A4B85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2 + 6 мес.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3B07C-4920-43C0-B00A-A9D3ECB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BD7707-B0DB-42FC-ABE4-F95C537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544058-2761-41E4-8020-FD57ED6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Средняя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91D67-AC43-48C6-AF36-50F8B2A1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BE71D2-1824-4A98-8D6E-861DEC7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19BB43-2688-41C9-B0EB-D5C53EBA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Низкая–средняя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90D54A-EBE1-4020-BB01-7AE87BB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524F44-F90A-4E79-9BA5-0A7892B7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66CF30-919A-4A58-BE7F-49FFDFA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Данные + дизайн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A0E19E-83C7-43BB-A4B9-2C1C233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861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11D235-BC17-4D93-A152-2EA48F8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195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F9F93F-CEBE-460D-9956-4F243BE3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Проверяемая база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C4B83A-DECB-44BE-B250-9639E233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76838D-A684-4B84-B3B8-10ED8CEE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D62E1F-B6F0-476D-9A4D-0EE3911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3. Статичная обложка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E455C4-2A17-469A-A560-1C7D6FC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C48F6F-DCEA-42E6-80A1-BB4BAECF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118CF3-A80E-4063-BF0A-28BAC7C8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Сразу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CCD3A-5CEF-4337-A4B1-34A01B9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F7D758-2602-4101-9213-0E88C84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39F8AE-0D02-4153-9562-6F785795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0AA3F4-7877-4C19-8879-1F674AA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C386C0-6550-416B-90A1-08FBCDC7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9435BE-D0B6-455F-ABEF-CD21147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Стабильная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E17E62-7132-49C3-B353-BF5CD56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B1C216-AEA1-47A1-B553-3B6DB97F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A8CFEA-5A3E-485D-8F07-970EFB8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5182C6-74FC-4A88-8BC5-206157D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291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10E9CF-7E0B-499D-B65A-774F483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625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D9E781-D232-4F58-B78D-B9307023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100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Лучший быстрый шаг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301056-C900-4421-855A-07718AF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D12557-BAF2-49E1-9995-6AAAFBD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054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D993CC-6A97-4607-AA69-98C10D23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530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4. AI-анализатор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1A6A12-1204-4FF5-9AF1-832185A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252009-4ECF-44B7-8094-A6DE74A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708B0F-BC74-4D32-B29D-A499F7CE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После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BDB61C-6F9D-4FCE-A541-A0CFACD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7EABDB-ED88-4E45-9DB3-DCFF6BD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6EF0C4-0F5D-42BA-81EA-2C6A45EE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9E7913-FEFB-41CA-9D16-8BD79FD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B21FE2-F2AC-488F-92F5-B4772B54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88CC55-251C-4FB4-906C-62250C11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Растёт с данными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7ADC12-8CF1-4EBC-A146-EDF0B71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FC3175-6F9C-4F2B-BB03-F4966FA4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EDD9D8-444D-44B5-96EC-74D5CE5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ML + разметка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3A1852-AC9A-4664-950A-D32D95E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720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CB6013-CDD3-4407-AD63-5C782B4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054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FFCC83-8007-4355-A028-57CC287D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Стратегическая цель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E8E270-D2EE-4EF2-92C2-A1299F6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81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* При наличии готовой и правильно выбранной менеджером иллюстрации.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EE473A-853D-42B3-89D3-324292B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5319966-19A6-4B42-9287-733200D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8652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Вариант 3 закрывает сегодняшний риск. Вариант 4 — отдельная программа цифровизации, а не «ещё одна функция PDF».</a:t>
            </a:r>
          </a:p>
        </p:txBody>
      </p:sp>
    </p:spTree>
    <p:extLst>
      <p:ext uri="{BB962C8B-B14F-4D97-AF65-F5344CB8AC3E}">
        <p14:creationId xmlns:p14="http://schemas.microsoft.com/office/powerpoint/2010/main" val="217633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041A42-462B-47BE-BF79-FEEDB72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89E4A-D077-46AE-B3F2-4DB15036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РУЧНОЙ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EF92-722B-4B87-930E-0C521FD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1. Дизайнерская библиотека + ручной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1B787-AF4E-4E82-8F92-1F733584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26250-7FFE-4F48-83D2-5F15069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2CA13-254D-4B96-BE8D-70E8FAB1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DFBE0-E4D2-4F90-8773-9150278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ДИЗАЙНЕРЫ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6ED86-5CB9-4596-B6A7-56F77B2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291A1-04DB-4B4C-878A-24B3C706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99E37-8376-4555-9A72-F7117B5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БИБЛИОТЕКА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FD1D9-8450-4ACD-A488-CD5CE785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867D2-B35B-4BCE-B4CE-CD14203F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6AA4A-B364-4225-B39E-B30BA0F0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МЕНЕДЖЕР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F91D1-411D-4E95-A448-15607E7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1AB18-26E1-4DC2-873A-2D0E556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C1569-93E9-488B-861A-2EBA2AD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95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КП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A58DA-28C2-4953-8DA0-3BD2304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52578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C6294-B0E1-4D63-90E3-4B4A22D2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Что потребуется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14187-78C5-4682-9D5E-D12E693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DD71-3615-4F51-807D-62E33A7E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Набор обложек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8B87A-6B5E-40AA-9459-77066951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48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 брендам, назначениям и композициям.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33E7A-727E-4C3A-8620-D3C065F4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00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72C13-B717-4B7C-AE81-EA6068E2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52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с превью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CB3A3-45AA-4FE8-8058-676E11A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0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Понятные имена, фильтры и правила использования.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543FF-7115-4540-9CD6-0295BFC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62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6DD26-8C4D-47BB-87A8-988C9CC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Время менеджера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4E7A0-A672-4C3F-82DB-D399CA6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72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Каждое КП требует осознанного ручного выбора.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A628E-987E-4AB6-9F67-A048003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54102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0791D-51A5-4301-BE8B-A0F116B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95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C45"/>
                </a:solidFill>
              </a:defRPr>
            </a:pPr>
            <a:r>
              <a:rPr sz="1500" b="1">
                <a:solidFill>
                  <a:srgbClr val="B43C45"/>
                </a:solidFill>
              </a:rPr>
              <a:t>Ограничение ресурса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8B6CFB-FCF7-4F68-90F2-E37B94F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≈ 6+ месяцев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C83AF1-B603-497F-8755-2643D25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ожидание доступности дизайнеров и выпуска библиотеки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C54BB-8538-4A78-80E8-965A44F4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00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Сценарий не зависит от качества AI, но полностью зависит от наличия визуалов и дисциплины выбора.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C4C5E-D5D4-4820-AB34-9A61A23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E34298-25CA-4404-9FF2-3513F240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627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6512"/>
                </a:solidFill>
              </a:defRPr>
            </a:pPr>
            <a:r>
              <a:rPr sz="1350" b="1">
                <a:solidFill>
                  <a:srgbClr val="B66512"/>
                </a:solidFill>
              </a:rPr>
              <a:t>Подходит как контролируемый ручной процесс — но не решает задачу «менеджер не должен думать и выбирать».</a:t>
            </a:r>
          </a:p>
        </p:txBody>
      </p:sp>
    </p:spTree>
    <p:extLst>
      <p:ext uri="{BB962C8B-B14F-4D97-AF65-F5344CB8AC3E}">
        <p14:creationId xmlns:p14="http://schemas.microsoft.com/office/powerpoint/2010/main" val="2045949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5" name="Rectangle 4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531E40-21E8-40BD-B397-87740EE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0329B-7ED4-46B1-9D58-B99364A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АЛГОРИТМИЧЕСКАЯ АВТОМАТИЗАЦИЯ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97BC-D0B1-4FFB-9366-14C71B4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2. Весовая классификация по спецификации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5F0F6-6CA5-4466-BFCD-2544B8CE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23F6D-C7C9-4707-A304-468C1E5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7397A-2C5A-4CF9-B7F4-4D7CBF6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79FFE-C9B9-4C21-B07F-E875A05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86C92-E1C5-4EB0-AC3C-71FA9B7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Спецификация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91996-DC2C-4153-AADE-CAF04D2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Модели • бренды • количество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13000-A884-4FF4-9023-62F93E83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85072-8823-40E9-A432-BE4E3799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0994F-2EC4-47D2-8B33-843246DB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Веса оборудования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91B14-D56A-47EE-883C-94025B6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P(назначение | позиция)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CB31C-2EEE-4BE7-B2B3-504C270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2C544-B462-4484-932F-55FD8ED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8D8DA-E0CF-4704-84EB-ED5C6A38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Сумма и правила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6B5D1-40CA-4C24-B337-3D8DBEBB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Сигналы + 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30813-EB30-4C5E-8225-4739EAE7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FE80D-8E4B-45E5-A75E-01995B4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Обложка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29377-4EE8-4204-8CA8-0E34BD5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Бренд × назначение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A4225-E3F6-4E6F-B2B7-5B39D73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34218-F396-4360-B270-1154AD19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Минимальная модель данных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85994-4443-4E8F-8C7B-30C4C071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60822-E79F-49A5-BC59-7FE02F4B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86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Справочник назначений и типов систем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0AF25-C584-47AE-9FFA-EE62828E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72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E51DD-0E9D-4DAD-9156-D1580FFB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Категория, бренд и модель каждой позиции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04369-3EB3-4E77-BB9B-EE2CF818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B1EFC-5108-4F62-90B8-866760F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387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Матрица весов: позиция → назначение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866F2-A3D5-4B35-AD5B-5735AB4D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FD7332-B179-4373-AAC1-FD43D0C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14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Правила конфликтов, пороги уверенности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11646D-4879-4659-A185-88C04D7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E8C81-D1C1-4D21-A1C8-F687C06E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911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Библиотека обложек с такой же разметкой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42618D-1530-4C9A-9F81-13A61BA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3810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2F1F4-3E50-4E02-BFB0-0E068E7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6512"/>
                </a:solidFill>
              </a:defRPr>
            </a:pPr>
            <a:r>
              <a:rPr sz="1425" b="1">
                <a:solidFill>
                  <a:srgbClr val="B66512"/>
                </a:solidFill>
              </a:rPr>
              <a:t>Оценка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E95AF2-5CAE-4A41-9912-B33500B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66512"/>
                </a:solidFill>
              </a:defRPr>
            </a:pPr>
            <a:r>
              <a:rPr sz="2400" b="1">
                <a:solidFill>
                  <a:srgbClr val="B66512"/>
                </a:solidFill>
              </a:rPr>
              <a:t>≈ 2 месяца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1D3EAC-F724-4C1A-BECF-5E9813C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алгоритм, интерфейсы разметки и первичная настройка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181E00-B9FF-465D-8A07-1290071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76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6+ месяцев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48D4A-3528-4768-9493-0988DB52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создание обложек и коллажей дизайнерами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87E64-5002-4F38-897D-16CF028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5CA0FE-B92F-47E1-B594-13FA3DB8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Точность будет ограниченной: одинаковый состав может использоваться в разных сценариях, а часть ТЗ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794018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36259-36BF-4E4A-B483-E41E3C3C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8F410-528D-42E2-BB97-380C5571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БЫСТРОЕ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1718F-3710-46D7-B26C-CD3448E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3. Одна абстрактная обложка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4460-D7CF-4D69-90B7-5449D1F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9294C-1BD7-4519-9E85-72ED52DC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947E-BB14-4DB2-8994-521633E4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4762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CDD6-3F8D-4FD4-8D4F-91D0E84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ОДИН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ВИЗУАЛ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EC31-0C49-44BA-985C-90E37283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8145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3EBD0-A881-4898-9BF2-B8235E70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111A2-2EB7-4477-8BAE-721B07B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2019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D66B4-B8D4-4AF4-8D37-CE72A6FA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Нейтральная композиция без привязки к конкретному оборудованию и назначению.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6827D-564E-4C5D-BE8B-57FCD65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Почему это разумно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ADBFA-9E4F-4B1F-BE4A-2653C22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76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6BACB-7F94-4755-BA7D-E9DADF4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Запуск без ожидания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E0C66-C9BD-4640-9706-F873726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61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 зависит от дизайнерской очереди и разметки.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F176C-2900-4092-BBF7-5BABA725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147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8622E-8527-4036-BEA3-8379E37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71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Нулевая ошибка выбора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00521-964C-4C1C-8EE0-9837C28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Нельзя поставить «не ту» систему или чужой бренд.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82623-EAB8-4CD5-B6DB-58C5829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2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E695B-13E0-4CE7-BD70-E7BDC74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Стабильный фирменный стиль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A1F18-789E-4C44-A4C4-54BF727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625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КП выглядит единообразно на всех сценариях.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4A5B3-1A54-4377-834B-FB89C6F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769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238F9-27BF-415A-9E61-49028D6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Рекомендуемый базовый вариант</a:t>
            </a:r>
          </a:p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до готовности данных и библиотеки визуалов</a:t>
            </a:r>
          </a:p>
        </p:txBody>
      </p:sp>
    </p:spTree>
    <p:extLst>
      <p:ext uri="{BB962C8B-B14F-4D97-AF65-F5344CB8AC3E}">
        <p14:creationId xmlns:p14="http://schemas.microsoft.com/office/powerpoint/2010/main" val="1042587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1E8CD-4E38-4AD1-B527-EB779B7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C2405-9CAC-4FDC-B1EE-EBED1D28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СТРАТЕГИЧЕСКАЯ АВТОМАТИЗАЦИЯ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C668D-DA7D-4C62-9030-7F137A6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4. AI-анализатор контекста — это уже отдельная платформа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412B2-D375-472C-87C0-E5B2134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7044A-26C1-4F49-A4FF-51C1B8F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7186A-4639-4B5A-923C-10E0538E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3C95E-4C4A-4CC5-A001-1B4F400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93C5A-0081-49C4-9C14-035F9F1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B18B9-6A87-49DE-B8E5-79F2EF00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15873-3D13-4265-A286-1EE9F3D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Письма, PDF, JPEG, DWG, таблицы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9A384-FD63-4635-898C-28447D8F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C8044-8C34-441E-B470-EE1C2A7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4F496-CC71-4EC2-A797-1E00411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F279A-7995-4D60-8FD8-503BBB7B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65FA1-7ECE-4F67-9E61-6D62312A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Понимание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8C9B0-81A2-4C42-9A31-13651FB1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структура, сущности, схемы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D3980-436E-43FE-961A-E140407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4DEB7-867C-4522-B73F-B1B1C1D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00656-A12A-417E-8BA7-8325857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1B333-2DED-4A42-9FC1-48B4F20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F4610-D17F-4375-B31A-98C28A7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Классификация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DF008-F735-4897-86DA-F29D32E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Назначение + вероятность + пробелы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81177-38EC-4B24-9EA1-21C84EE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82C61-8BAC-4DBC-B558-DB62615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B7D85-2099-43EC-8CF0-6C340753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1B0B6-F9E6-4DAF-849F-AFA8084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2AEB8-6143-48E5-A356-1AA3F33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Генерация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7F348-04EE-459E-A103-432A0B07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Обложка, описание, состав решения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8D4B8-BE39-42F8-99B4-03630321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B4190-FF8D-4D4E-8BAB-93B9DBC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C896F-8EAF-4879-B7F0-E9C6727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561BC-06FD-47B2-8772-6A9A411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A16655-714E-449F-9D7D-8EE474E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Контроль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DCFF7-E887-4BD0-A008-F049379F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Факты, бренды, уверенность, человек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351274-3E35-4AFF-8219-C4D9656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376E7-39A7-49A3-9475-07A8955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Необходимое правило безопасности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AF9BC-9FF2-4669-99DE-F7B4D84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Если данных недостаточно или уверенность ниже порога — система не «угадывает», а формирует список вопросов и отправляет заявку инженеру.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828B7D-A53A-475C-B797-369B80BC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AI снижает ручную работу только там, где факты реально присутствуют в переписке и файлах.</a:t>
            </a:r>
          </a:p>
        </p:txBody>
      </p:sp>
    </p:spTree>
    <p:extLst>
      <p:ext uri="{BB962C8B-B14F-4D97-AF65-F5344CB8AC3E}">
        <p14:creationId xmlns:p14="http://schemas.microsoft.com/office/powerpoint/2010/main" val="479964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4" name="Rectangle 4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B327D1-A44C-4B31-AB68-0AF3115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280D2-5153-4071-82B8-FE0FE516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ТЕХНОЛОГИЧЕСКАЯ СХЕМА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E2E4-2452-4391-ABD8-F11E7BC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Архитектура: несколько специализированных моделей, единый проверяемый конвейер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68A82-05EB-4B58-845A-5AC519EC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595AA-3A30-4A35-A734-7EBE22A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94857-7996-470E-BCD7-B012715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7735-252F-4617-97BB-FF5A675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Приём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77976-9C41-4E55-8B4B-FE45CD7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Почта • CRM • файлы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22EE4-1B49-4585-A5A2-1173A89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363B1-76D8-48FF-A9F8-9E634BA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946A9-8770-4CAB-8AE2-7681801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Документы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B3357-1F61-4243-870A-71FD347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OCR • таблицы • layout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B1E42-F48E-4AEB-BEF1-DD2846E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1AE07-C7DB-4F47-840B-FD91B17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4BAFE-AC06-4F07-975D-2519D34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CAD / схемы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6FD6D-0789-436E-8E99-5D4A68D2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DWG → DXF • слои • символы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61930-8116-406A-9078-7ED8042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8810-5D89-44BC-B024-A18982F3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73145-805D-4605-831A-BDDED480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Нормализация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AAF67-4EAE-4130-8ABC-48E8CDF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Единый JSON заявки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60EF7-871E-441F-A349-EB844F8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E19C3-4D07-4167-8467-79FFA16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586B4-3E00-4289-AAEF-7DB69186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Поиск фактов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1C79E-B11E-43B2-BDB4-08DC9045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RAG + каталог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E756E-904A-414D-AA7C-B069FEA1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E8F8E-645B-4E53-8D68-98261EF8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85C19-D372-45DF-B032-E6C9A84D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Классификатор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AB4CC-D39F-4969-8220-AFAD8F6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Веса + LLM/VLM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D7608-D708-4A9F-8C7B-CE6066E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E40A0-90E8-45AA-812A-577FB7C9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0AE7F-0162-4DE1-A517-EE7C1D4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Генераторы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A7941-516D-4830-A747-073977B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Текст + композиция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530A7E-B387-47F9-A1FC-327C34F3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3B92D4-F0B2-4C01-A926-BA4169D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75033-5958-4B43-9427-F770BCC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Верификатор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3B738-3E74-4A54-BABE-67922F91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Пороги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894EA-792C-49DF-AACA-1DDEA45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916D80-66F7-48D0-939F-648FA2A7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Кандидаты технологий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67B59F-0359-4DBE-B68B-59CA584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91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PaddleOCR-VL / Docling  •  Qwen3-VL  •  BGE-M3  •  Grounding DINO  •  ODA + ezdxf  •  Qwen3  •  ComfyUI + FLUX/Qwen Image</a:t>
            </a:r>
          </a:p>
        </p:txBody>
      </p:sp>
    </p:spTree>
    <p:extLst>
      <p:ext uri="{BB962C8B-B14F-4D97-AF65-F5344CB8AC3E}">
        <p14:creationId xmlns:p14="http://schemas.microsoft.com/office/powerpoint/2010/main" val="668535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8" name="Rectangle 4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42674E-08C1-4DBF-B0ED-2AB9B05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9A55A-7790-4091-A825-41EA2F00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ВИЗУАЛЬНЫЙ КОНВЕЙЕР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39F2E-0FD1-4E8F-A33A-261AE958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Генерация обложки: оборудование должно оставаться настоящим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94D05-F003-4ED9-A45C-47520079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3A5F5-7E43-4EE7-9C46-A204F71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A76D7-119B-4950-A66C-E8A607A8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485EB-BF37-48FD-BBF4-C196AD6B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2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Нельзя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EE823-5ABA-4497-A841-A94341B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Просить модель заново нарисовать оборудование: она меняет логотипы, кнопки, порты, пропорции и создаёт несуществующие изделия.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41F15-5CD5-4CC4-A15E-BBC75C14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11E0-9B3A-4202-A982-4E0379A6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ACF42-3AFF-4B58-9DB7-D88DBE5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A46DF-0452-45F8-986E-D867F79D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Фото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D5E0F-B007-44D0-84C4-EF0721E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Оригинал из каталога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13BD4-565A-4717-90F4-831D7D09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4537F-7966-4BAA-8279-1A84F73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BEDEC-5C3F-4AB2-BFB0-3CDB74B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D379B-7C0B-4800-80D2-3376E7E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7A607-E236-46D4-9590-1B28472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Маска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598A3-9BCE-46D3-8456-9A27F847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Удаление фона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D244E-7772-40BE-87BB-30CEC09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449FD-98E0-41F9-B38F-A6D51D41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64BB-D154-4D2C-BFD9-787B047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20203-1BFE-41C8-A707-E3FB401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5147D-DF28-4364-8521-DE699640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Коллаж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4E02F-620E-43E4-87B2-AB987D85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Шаблон + композиция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B80CA-433A-4978-9BF4-E091A103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8D4ED-599E-4D55-8563-3CB7903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3C5F9-A3A6-455C-AD88-30DED80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0D03F-0325-4B32-B642-12B496F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2BD4E-C838-4907-B2A4-EC3A466A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AI-слой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57BA1-81B7-47F7-B4B8-05E3542B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Фон, свет, тени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0DDAA-A9E1-4255-8D61-DEA160E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913F37-0DC4-46EB-9C46-F5952E29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2700B-4F6E-41BB-91D7-1E2BC5E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E3284F-82BE-41A9-8258-959962F5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92AB4C-93F8-4542-B801-22435C8C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Финал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092274-974A-458D-A5FD-165974D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Лого и текст поверх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69C6B-437C-4319-9866-2395387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2F59E0-CEB1-42EE-A518-F82996C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Материалы для пилота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F7C418-5030-4CCA-965B-4E4C5FBC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Фото каждого блока оборудования + не менее 100 эталонных готовых композиций.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A304E0-67CB-4C08-BF5C-288576B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48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161B5D-6D94-4C18-8D31-73ED165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Что обучаем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850F80-7E9B-452F-B1FF-3AB5532B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00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Несколько стилевых LoRA и правила композиции — не отдельную модель на каждую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1236492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411DFF-98B9-444F-8947-0F04061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7071A-F745-4B68-A731-F89FD39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ГЕНЕРАЦИЯ ТЕКСТА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2DBEA-8F8F-4E77-B2F0-041C68BD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Описание системы: факты берём из базы, нейросеть отвечает за смысл и стиль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FA695-24A2-436A-A940-1D86EBC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EBEF-731F-49FB-BDFC-56C1BC06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6F748-64B6-4B4F-AB4F-C866D31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79988-86C8-4139-893E-006C694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717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и БД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95AE4-56CC-4F6A-B4CA-EF1AC47F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Характеристики, совместимость, бренды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8A8D2-4C19-48A6-99CC-BE5B2EEA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C32CE-6767-4680-BEE6-1A47495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Заявка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EBA93-EC18-4EB5-8CA8-71C73A66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Назначение, ограничения, объект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813A0-856A-455C-8863-E81C7495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1BCB9-7F6D-4A80-A790-FD31A4C9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9508E-14AA-4801-8640-9FF89EA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911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Только найденные подтверждённые факты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801D5-2F6C-49EA-AAF1-6E2C6FE1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3B2A3-339F-4169-BCFD-DBD816DA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2857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6E6F-35FC-4FBB-9670-491587B2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Языковая 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AC07B-D83B-4E3F-A87A-73F09C71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5FCC1-D0FB-4648-85F9-26C842B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СТРУКТУРА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32FA2-762B-4C78-945F-0A2029C8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D11C0-7A3D-4A8A-8196-CCF83083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КОРПОРАТИВНЫЙ СТИЛЬ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88972-5A22-43FB-9DCE-445065E5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13904-86FC-4C38-901A-2085151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3–5 ВАРИАНТОВ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D8F00-52EA-4AC9-9F23-1DF716BE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LoRA учит манере письма.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Факты не «зашиваются» в LoRA.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C816C-4709-4379-A89A-00F62EBF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FF14C-160B-47E2-B425-FECD629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914650" cy="32766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211A6-734E-4978-A1E6-7031663C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845B"/>
                </a:solidFill>
              </a:defRPr>
            </a:pPr>
            <a:r>
              <a:rPr sz="1500" b="1">
                <a:solidFill>
                  <a:srgbClr val="17845B"/>
                </a:solidFill>
              </a:rPr>
              <a:t>Проверенный результат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1F8EA-DF95-4D8B-98A3-6438269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8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CBB27-371A-44B4-B005-B9FC9A1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Описание назначения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D238A-B17C-4461-A441-ECC6E7E3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38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Без выдуманных характеристик.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7CF92-9D1C-40D9-8C6D-4F04C2D1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90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39DDC3-27D7-46CD-9DD8-389CCEAA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 решения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C09BF8-C509-4C3A-B1F4-E7EB10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00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Ссылки на позиции и источники.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ADDF82-5273-4E7C-9622-80D4436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52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81A74-9D20-4D91-A059-B5D4E87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05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Стоп-сигналы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2BCC8D-D469-4575-B96A-792A462A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62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Недостающие данные и вопросы.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23E3E3-FB14-4E98-A4A2-548D9A4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5315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4F3A74-C308-43F1-BD4B-D9A9165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3246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Данные обучения: 100–200 примеров — концепт; 500–1000 — стабильный стиль; тысячи — широкое покрытие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2076438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25505-2732-4D7C-B364-DABC72C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7F4F-3D57-4703-9E90-9A2E0E8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ОРГАНИЗАЦИОННАЯ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7E78-B17A-4DB8-A571-A322591C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Автоматизация не убирает работу — она переносит её в данные и контроль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505F0-B152-41E5-A162-EFA56FCF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439C9-9CC3-456C-A5B7-14AA4CAD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B2A85-ED5F-4FEE-9477-031B0049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03F2A-62BC-453C-94F4-6B979E8F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DE2D6-7EB8-4A0F-A30B-56D07C8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2A451-7C87-4D46-A342-7AA409E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Владелец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EC523-397E-46DC-A90E-FDBBE7F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Определяет сценарии, метрики и допустимый риск.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9EF1E-D153-490B-AA4A-405DFDE7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06F23-8EA5-41A9-89F2-D8027D8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A6D33-1DC3-41E2-A9B8-4E39FFB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E2F74-3DAC-4AE6-9F06-C58D4D31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Инженеры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AA722-F3DC-4484-AE32-F699E36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Утверждают таксономию, веса, правила и эталоны.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517AA-35FE-4D4A-9F61-4D29B189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A20F4-192D-4433-B70F-6B733D3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244D5-4B9E-413A-9683-D43AF7D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72338-6A99-47D8-808A-508C8AD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 / контент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7948A-F48D-4D17-AFB4-10DF1FA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Размечает историю, изображения, модели и назначения.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11FA9-1E48-4AF9-BDAE-05306DD9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D7540-F1B4-46EB-833C-29621FF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5CAFE-0306-4FAB-AA99-A2A3CE2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7ADD7-A545-4233-A7BC-FC4021A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Дизайнеры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32643-6ADF-4F10-B95E-2273701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Создают эталонные композиции и визуальные правила.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F14BF-1786-49B4-A085-3440E8F4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CDEC8-7DE5-4F9F-B89B-3D14858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C64CF-85F2-438C-AE0A-415E1FF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BD649-14D0-4BC1-A5BC-DAF7294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ML / разработка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3A5D2-E9CA-41DC-9ABD-17C741E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Строит конвейер, модели, мониторинг и интерфейсы.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E9DD7-7989-4A27-B366-3EB1EE8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33911F-43AE-4BED-93A1-5E38EE8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D52BF-8434-421C-8253-2C39033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C571F-5153-44C6-85DC-A690967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Менеджеры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5E086C-BF61-4EBC-AC2F-77AECDC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Исправляют ошибки и тем самым создают обратную связь.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31DD9-1FA7-45BC-9D74-7EB90E6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7215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561D47-5983-4E95-A5C6-89CA28B5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6512"/>
                </a:solidFill>
              </a:defRPr>
            </a:pPr>
            <a:r>
              <a:rPr sz="1050" b="1">
                <a:solidFill>
                  <a:srgbClr val="B66512"/>
                </a:solidFill>
              </a:rPr>
              <a:t>Скрытая стоимость проекта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CDD131-FEF8-44E2-BDFE-182CD6FA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24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Разметка и поддержание справочников — постоянный бизнес-процесс. Без ответственных владельцев точность будет деградировать даже при хороших моделях.</a:t>
            </a:r>
          </a:p>
        </p:txBody>
      </p:sp>
    </p:spTree>
    <p:extLst>
      <p:ext uri="{BB962C8B-B14F-4D97-AF65-F5344CB8AC3E}">
        <p14:creationId xmlns:p14="http://schemas.microsoft.com/office/powerpoint/2010/main" val="199948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1B767-6B9C-465A-98AF-5BE06F6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126E5-71E1-4257-80EE-73915984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МОДЕЛИ И ЖЕЛЕЗО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5042A-9DD8-4307-AD5A-3480FEE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Инфраструктура: от пилота на одной машине до производственного контура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7EA21-2561-4CC7-92D2-7D071C3D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E0C05-8D1B-44FF-95C4-83794737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C4EBE-6F60-44AF-AECD-A687AD1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342A8-8A4F-49F3-935E-0CB7FB24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40AE8-FC20-4704-B4C1-A513D8F0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7F6D8-1C83-45CC-B659-1EECE38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5090 • 32 GB VRAM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91201-0E16-4255-9584-AA803AB5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128 GB RAM • 4 TB NVMe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B564B-ABF2-44DA-A335-0C6A9EF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5CFE5-FB4A-4930-BF13-D8789047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embeddings, 8B VLM/LLM, LoRA и изображения — последовательно.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0BD20-F4E6-4637-9F86-D967625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8D29F-E687-4C97-8AE8-000ADCC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24F76-663E-48F5-9E6B-4431E55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СЕРЬЁЗНАЯ СТАНЦИЯ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67700-E146-4664-B76A-D42F7DC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PRO 6000 • 96 GB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7059C-9A74-49DE-8A81-B3A92FFD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256 GB ECC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AEBD0-3A94-4FC8-8D56-995A3E5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2E4EE-BA95-42DB-89CF-4F8CEB5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Крупнее модели, больше контекста, стабильная локальная эксплуатация.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AA00F-1DDD-4053-ADFB-6BDC67F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E2BC4-7E2A-4102-863F-DF7ED6F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5920F-AD2F-4023-850F-B0D24826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МАСШТАБ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11FCA-3407-4DDA-A056-302B088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2× RTX PRO 6000 • 192 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0CBD5-F323-4626-A2A0-355F0869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512 GB RAM • Threadripper 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A9B2E-BDA7-4CF4-85D3-AA04597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69C46-6A18-4131-9663-7BEF2ADA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Параллельные сервисы, обучение и высокая пропускная способность.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2A46A-2D58-418C-B410-48596A37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A4C22-CEFF-4604-9E32-BD9BC3F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865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Для проверки идеи достаточно пилотной машины. Покупать масштаб до подтверждения качества классификации — преждевременно.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7494371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4" name="Rectangle 5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Rectangle 5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53D575-12D3-4FB8-8BF4-26510A1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6B71F-FC78-47B3-8346-C838C643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ДОРОЖНАЯ КАРТА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E32B2-51A7-47FC-99CD-D5C617B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План внедрения: каждая стадия должна доказать ценность следующей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196D5-741D-490F-92E0-69E5D6C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73B56-8D75-4994-AF30-D228E09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C8E92-EE3F-4F0C-B822-2107671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861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CAD48-6E64-4385-8EBC-E0A1C6A8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43F3-5053-4EE1-8FAA-8B8E3655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D398-0F0F-4C98-BCB6-6B9E543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C7006-E54F-4521-B102-5F37A60F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FCB12-FBA8-43A8-9418-E3B20DD6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5FB30-8266-4387-AC8E-CB9035E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Статичная обложка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BB228-1947-463D-90DA-387AA77D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1–5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6D6AC-1336-4BAF-969C-6704EFC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845B"/>
                </a:solidFill>
              </a:defRPr>
            </a:pPr>
            <a:r>
              <a:rPr sz="825" b="1">
                <a:solidFill>
                  <a:srgbClr val="17845B"/>
                </a:solidFill>
              </a:rPr>
              <a:t>ЗАПУСК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77820-5681-47B2-A645-8E9AA36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6DF12-7D8C-4DE7-A612-622F6A1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06313-7333-4453-BA5D-E9BE3258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C5608-53BA-4B58-BEB6-32D06E9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9FB6D-D1BB-42BC-92F6-059B18D6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0–1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BD662-E2F5-441D-874E-D23D5FC6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Инвентаризация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0BEF5-01BC-46FF-B547-3DE4B58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Роли • таксономия • метрики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45AB2-6A63-49AE-9475-78C061ED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B0B86-8D12-46A6-99DB-5BCC8587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B3C14-A806-4D86-A536-3C58BB96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46C32-131F-495E-B360-186AE05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35052-8482-4D8D-92FD-9DBE9E4C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A1B47-A9D7-430B-B5C0-57EAC7B2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1–3 мес.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F1930-B313-4485-A209-6C268D3C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Весовой классификатор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8C778-59CB-4F73-8AAD-444B230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История • веса • offline-тест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D8822-4ED9-47A8-8CDE-7028728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9D617-A302-456F-9C64-C02D040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8C89B-6FD9-497F-9CA7-6CC5F4E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8C0939-63CB-49BD-B558-B2F2BD69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79A9CC-CDAD-4450-B9E8-21EA2BB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F44995-ECC2-41F2-829D-F192EDD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3–5 мес.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FC622-92BE-4624-85A4-61E4AA78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AI-пилот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B95385-8D55-452A-81FB-F18B944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Почта • OCR • файлы •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7A0E5-E786-449C-BD6E-7259753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69FCD4-401D-415A-A388-C169DAC8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9E4E55-76FA-4580-8A18-93AE502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DB75EB-6EB3-4B08-AA40-9E2E5A73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6D8C5-AEFB-4798-BD73-FAC82E74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BAA4E5-6051-4BAC-AAFF-9F0CC59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5–9+ мес.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7D6FD8-4821-44EA-B47B-DEFA207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Контент и генерация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176682-2968-4253-8C33-5352527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100+ композиций • тексты • A/B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D5F16-CA50-4486-92EA-474A4C8E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F86D61-18B3-4056-9120-F73FF3F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257699-E297-46A8-847C-38942CD8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Условия перехода к следующей стадии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341A8F-3EE9-4514-A150-A3694522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53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✓ Есть владелец данных   ✓ Согласована таксономия   ✓ Измерена точность   ✓ Определён порог ручной проверки   ✓ Подтверждена экономия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5329478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9DCF5-CD34-4451-885C-486C56AE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F3669-116A-4B78-AC77-C213C96D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F6220-4842-48CD-B4A8-5777D0C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Что предлагается утвердить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99026-1D9C-453F-919B-97ACE55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940CF-B907-4234-A7E0-3EFD26B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C09C7-EA94-49A0-9B91-3AAA3E14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70104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6EEDA-7B5F-4E6E-A7DE-F5764668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РЕШЕНИЕ НА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AC13-AAE0-4B4C-8650-EAFE97A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990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Запустить статичную обложку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и подготовку данных для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9FC62-74B1-44C9-8F4E-FC92B1B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1670B-5EF7-4599-B46A-FEE8477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672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F31C7-A2FA-4816-B239-1F39A0C1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57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Назначить владельца таксономии систем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0CF58-586E-4572-A05B-61A77486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D3017-5051-4173-9559-D3C88AB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C203E-EF35-4049-983A-EB1D8BE6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14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Выделить исторические заявки и итоговые КП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09CF2-E607-4CEE-AC17-19A549C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5D6B9-8078-4327-9E6C-3811A6B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816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4EEB1-94B8-4716-A3C1-1181436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72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Согласовать метрики: точность, время, доля ручной проверки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78965-0635-4FD2-A9F8-58B13E67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4EAF7-04D9-4B8E-AB59-235AE1E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388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916A6-137A-4580-BBE5-A08DE40B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29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Не заказывать массовый дизайн до проверки классификации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928C3-E04C-413F-89C6-A0FD753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E4091-43C5-4037-ACBB-FAC3C6A0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Быстрый эффект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4F170-571C-45CA-8011-72A8DB1C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Единый вид КП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без ошибок выбора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987C6-16E2-4428-B63C-8BCEF15C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148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DBDA2-ACED-490A-BB5B-860B8907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Стратегический эффект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4F9B0-3723-4BC8-BF67-3C9EE81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43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Платформа, которая понимает заявку, объясняет решение и знает предел своей уверенности.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E2C1F-D7B1-4AD6-AB5A-E8BB1CB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724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Следующий шаг: 2-недельный аудит данных и дизайн пилота.</a:t>
            </a:r>
          </a:p>
        </p:txBody>
      </p:sp>
    </p:spTree>
    <p:extLst>
      <p:ext uri="{BB962C8B-B14F-4D97-AF65-F5344CB8AC3E}">
        <p14:creationId xmlns:p14="http://schemas.microsoft.com/office/powerpoint/2010/main" val="693629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2026-08-28T13:10:15.0430000Z</dcterms:created>
  <dcterms:modified xsi:type="dcterms:W3CDTF">2026-08-28T13:10:15.0430000Z</dcterms:modified>
</coreProperties>
</file>