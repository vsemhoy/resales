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685f59b1df8e4e17" Type="http://schemas.openxmlformats.org/package/2006/relationships/metadata/core-properties" Target="docProps/core.xml"/><Relationship Id="Ra156f48245cb465a" Type="http://schemas.openxmlformats.org/officeDocument/2006/relationships/extended-properties" Target="docProps/app.xml"/><Relationship Id="Rc57837438bb84540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d040932bff2434b"/>
  </p:sldMasterIdLst>
  <p:notesMasterIdLst>
    <p:notesMasterId xmlns:r="http://schemas.openxmlformats.org/officeDocument/2006/relationships" r:id="R7e39c067390e4f5c"/>
  </p:notesMasterIdLst>
  <p:sldIdLst>
    <p:sldId xmlns:r="http://schemas.openxmlformats.org/officeDocument/2006/relationships" id="256" r:id="R8554683f06a345b1"/>
    <p:sldId xmlns:r="http://schemas.openxmlformats.org/officeDocument/2006/relationships" id="257" r:id="R76b64b27fa3d4a4d"/>
    <p:sldId xmlns:r="http://schemas.openxmlformats.org/officeDocument/2006/relationships" id="258" r:id="R56b91c3003374153"/>
    <p:sldId xmlns:r="http://schemas.openxmlformats.org/officeDocument/2006/relationships" id="259" r:id="R5f4b5d3671084ca2"/>
    <p:sldId xmlns:r="http://schemas.openxmlformats.org/officeDocument/2006/relationships" id="260" r:id="R719440d8245e4308"/>
    <p:sldId xmlns:r="http://schemas.openxmlformats.org/officeDocument/2006/relationships" id="261" r:id="R26d3a5a9c138461f"/>
    <p:sldId xmlns:r="http://schemas.openxmlformats.org/officeDocument/2006/relationships" id="262" r:id="R67fab21046e24482"/>
    <p:sldId xmlns:r="http://schemas.openxmlformats.org/officeDocument/2006/relationships" id="263" r:id="Re51ea7924f25494c"/>
    <p:sldId xmlns:r="http://schemas.openxmlformats.org/officeDocument/2006/relationships" id="264" r:id="Rcfc9a9c2ecfc47c5"/>
    <p:sldId xmlns:r="http://schemas.openxmlformats.org/officeDocument/2006/relationships" id="265" r:id="Rbc11dd98172744e6"/>
    <p:sldId xmlns:r="http://schemas.openxmlformats.org/officeDocument/2006/relationships" id="266" r:id="R1bf8db933d8845eb"/>
    <p:sldId xmlns:r="http://schemas.openxmlformats.org/officeDocument/2006/relationships" id="267" r:id="Rf760852f9cbe4615"/>
    <p:sldId xmlns:r="http://schemas.openxmlformats.org/officeDocument/2006/relationships" id="268" r:id="R792687bd4010458b"/>
    <p:sldId xmlns:r="http://schemas.openxmlformats.org/officeDocument/2006/relationships" id="269" r:id="R17f07eac849840b6"/>
    <p:sldId xmlns:r="http://schemas.openxmlformats.org/officeDocument/2006/relationships" id="270" r:id="R374c12dc64084d00"/>
    <p:sldId xmlns:r="http://schemas.openxmlformats.org/officeDocument/2006/relationships" id="271" r:id="R4f9c5ce2123d4eed"/>
  </p:sldIdLst>
  <p:sldSz cx="13716000" cy="8382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17f07eac849840b6" Type="http://schemas.openxmlformats.org/officeDocument/2006/relationships/slide" Target="slides/slide14.xml"/><Relationship Id="R1bf8db933d8845eb" Type="http://schemas.openxmlformats.org/officeDocument/2006/relationships/slide" Target="slides/slide11.xml"/><Relationship Id="R26d3a5a9c138461f" Type="http://schemas.openxmlformats.org/officeDocument/2006/relationships/slide" Target="slides/slide6.xml"/><Relationship Id="R374c12dc64084d00" Type="http://schemas.openxmlformats.org/officeDocument/2006/relationships/slide" Target="slides/slide15.xml"/><Relationship Id="R4f9c5ce2123d4eed" Type="http://schemas.openxmlformats.org/officeDocument/2006/relationships/slide" Target="slides/slide16.xml"/><Relationship Id="R56b91c3003374153" Type="http://schemas.openxmlformats.org/officeDocument/2006/relationships/slide" Target="slides/slide3.xml"/><Relationship Id="R5f4b5d3671084ca2" Type="http://schemas.openxmlformats.org/officeDocument/2006/relationships/slide" Target="slides/slide4.xml"/><Relationship Id="R6466181e93094a1e" Type="http://schemas.openxmlformats.org/officeDocument/2006/relationships/theme" Target="theme/theme1.xml"/><Relationship Id="R67fab21046e24482" Type="http://schemas.openxmlformats.org/officeDocument/2006/relationships/slide" Target="slides/slide7.xml"/><Relationship Id="R719440d8245e4308" Type="http://schemas.openxmlformats.org/officeDocument/2006/relationships/slide" Target="slides/slide5.xml"/><Relationship Id="R76b64b27fa3d4a4d" Type="http://schemas.openxmlformats.org/officeDocument/2006/relationships/slide" Target="slides/slide2.xml"/><Relationship Id="R792687bd4010458b" Type="http://schemas.openxmlformats.org/officeDocument/2006/relationships/slide" Target="slides/slide13.xml"/><Relationship Id="R7e39c067390e4f5c" Type="http://schemas.openxmlformats.org/officeDocument/2006/relationships/notesMaster" Target="notesMasters/notesMaster1.xml"/><Relationship Id="R8554683f06a345b1" Type="http://schemas.openxmlformats.org/officeDocument/2006/relationships/slide" Target="slides/slide1.xml"/><Relationship Id="Rbc11dd98172744e6" Type="http://schemas.openxmlformats.org/officeDocument/2006/relationships/slide" Target="slides/slide10.xml"/><Relationship Id="Rc4610bab13e145c4" Type="http://schemas.openxmlformats.org/officeDocument/2006/relationships/presProps" Target="presProps.xml"/><Relationship Id="Rcfc9a9c2ecfc47c5" Type="http://schemas.openxmlformats.org/officeDocument/2006/relationships/slide" Target="slides/slide9.xml"/><Relationship Id="Rd7d4daa55af3497a" Type="http://schemas.openxmlformats.org/officeDocument/2006/relationships/tableStyles" Target="tableStyles.xml"/><Relationship Id="Re51ea7924f25494c" Type="http://schemas.openxmlformats.org/officeDocument/2006/relationships/slide" Target="slides/slide8.xml"/><Relationship Id="Red040932bff2434b" Type="http://schemas.openxmlformats.org/officeDocument/2006/relationships/slideMaster" Target="slideMasters/slideMaster1.xml"/><Relationship Id="Rf760852f9cbe4615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2b8e029cc7df42a5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c63f139a44e54a4d" Type="http://schemas.openxmlformats.org/officeDocument/2006/relationships/notesMaster" Target="../notesMasters/notesMaster1.xml"/><Relationship Id="Rc939c9cb8823401a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00ffff23b7474fcd" Type="http://schemas.openxmlformats.org/officeDocument/2006/relationships/slide" Target="../slides/slide2.xml"/><Relationship Id="R942dda117e514b75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1cf920f12e454657" Type="http://schemas.openxmlformats.org/officeDocument/2006/relationships/notesMaster" Target="../notesMasters/notesMaster1.xml"/><Relationship Id="R352ac1dcb46b4ee1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1641796d109f4620" Type="http://schemas.openxmlformats.org/officeDocument/2006/relationships/notesMaster" Target="../notesMasters/notesMaster1.xml"/><Relationship Id="R7b44a726f77f4e3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a887ac96b5494a62" Type="http://schemas.openxmlformats.org/officeDocument/2006/relationships/notesMaster" Target="../notesMasters/notesMaster1.xml"/><Relationship Id="Rdbc75d885580457c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7a4015dcd1a44449" Type="http://schemas.openxmlformats.org/officeDocument/2006/relationships/slide" Target="../slides/slide6.xml"/><Relationship Id="Rcd864a5e63894956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13dbd45e0e4640c9" Type="http://schemas.openxmlformats.org/officeDocument/2006/relationships/slide" Target="../slides/slide7.xml"/><Relationship Id="Rd6c7a6116b294517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776c4ee508164e6f" Type="http://schemas.openxmlformats.org/officeDocument/2006/relationships/slide" Target="../slides/slide8.xml"/><Relationship Id="R90751da498c944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4c64c5fc638b4dc2" Type="http://schemas.openxmlformats.org/officeDocument/2006/relationships/notesMaster" Target="../notesMasters/notesMaster1.xml"/><Relationship Id="Rd0c546b958a747a6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63e5d0acaa974566" Type="http://schemas.openxmlformats.org/officeDocument/2006/relationships/notesMaster" Target="../notesMasters/notesMaster1.xml"/><Relationship Id="R63ec9e443f004c66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180303acce2840bf" Type="http://schemas.openxmlformats.org/officeDocument/2006/relationships/slide" Target="../slides/slide11.xml"/><Relationship Id="R5b7c7895a77d4544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45384c3dec6f4fe5" Type="http://schemas.openxmlformats.org/officeDocument/2006/relationships/slide" Target="../slides/slide12.xml"/><Relationship Id="R98bf3c6c5ea14656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7106f114e7034887" Type="http://schemas.openxmlformats.org/officeDocument/2006/relationships/notesMaster" Target="../notesMasters/notesMaster1.xml"/><Relationship Id="Racf69ad1c29149b4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179feebcaca3456b" Type="http://schemas.openxmlformats.org/officeDocument/2006/relationships/notesMaster" Target="../notesMasters/notesMaster1.xml"/><Relationship Id="R71b1ccff0ed3457f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816f375cf9e2482e" Type="http://schemas.openxmlformats.org/officeDocument/2006/relationships/notesMaster" Target="../notesMasters/notesMaster1.xml"/><Relationship Id="Rd72200830d7f4900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61e1619cf6834dad" Type="http://schemas.openxmlformats.org/officeDocument/2006/relationships/slide" Target="../slides/slide16.xml"/><Relationship Id="Rded034e99b124d6d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Внутренняя постановка задачи и рабочие примеры заказчика.</a:t>
            </a:r>
          </a:p>
          <a:p xmlns:a="http://schemas.openxmlformats.org/drawingml/2006/main">
            <a:r>
              <a:t>- AI-generated visual, OpenAI ImageGen, 2026-08-28.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Внутренняя постановка задачи и рабочие примеры заказчика.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Внутренняя выборка типов заявок и файлов, предоставленная заказчиком.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Внутренняя выборка названий объектов, предоставленная заказчиком.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Внутренняя постановка задачи и рабочие примеры заказчика.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Внутренняя постановка задачи и рабочие примеры заказчика.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Внутренняя постановка задачи и рабочие примеры заказчика.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Внутренняя постановка задачи и рабочие примеры заказчика.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PaddleOCR-VL: https://www.paddleocr.ai/main/en/version3.x/algorithm/PaddleOCR-VL/PaddleOCR-VL-1.6.html</a:t>
            </a:r>
          </a:p>
          <a:p xmlns:a="http://schemas.openxmlformats.org/drawingml/2006/main">
            <a:r>
              <a:t>- Docling supported formats: https://docling-project.github.io/docling/usage/supported_formats/</a:t>
            </a:r>
          </a:p>
          <a:p xmlns:a="http://schemas.openxmlformats.org/drawingml/2006/main">
            <a:r>
              <a:t>- Qwen3-VL: https://github.com/QwenLM/Qwen3-VL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PaddleOCR-VL: https://www.paddleocr.ai/main/en/version3.x/algorithm/PaddleOCR-VL/PaddleOCR-VL-1.6.html</a:t>
            </a:r>
          </a:p>
          <a:p xmlns:a="http://schemas.openxmlformats.org/drawingml/2006/main">
            <a:r>
              <a:t>- DoclingDocument: https://docling-project.github.io/docling/concepts/docling_document/</a:t>
            </a:r>
          </a:p>
          <a:p xmlns:a="http://schemas.openxmlformats.org/drawingml/2006/main">
            <a:r>
              <a:t>- BGE-M3: https://github.com/FlagOpen/FlagEmbedding/blob/master/docs/source/bge/bge_m3.rst</a:t>
            </a:r>
          </a:p>
          <a:p xmlns:a="http://schemas.openxmlformats.org/drawingml/2006/main">
            <a:r>
              <a:t>- Grounding DINO: https://github.com/IDEA-Research/GroundingDINO</a:t>
            </a:r>
          </a:p>
          <a:p xmlns:a="http://schemas.openxmlformats.org/drawingml/2006/main">
            <a:r>
              <a:t>- ezdxf: https://ezdxf.readthedocs.io/_/downloads/en/master/pdf/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ComfyUI: https://github.com/Comfy-Org/ComfyUI</a:t>
            </a:r>
          </a:p>
          <a:p xmlns:a="http://schemas.openxmlformats.org/drawingml/2006/main">
            <a:r>
              <a:t>- FLUX.1 Kontext workflow: https://docs.comfy.org/tutorials/partner-nodes/black-forest-labs/flux-1-kontext</a:t>
            </a:r>
          </a:p>
          <a:p xmlns:a="http://schemas.openxmlformats.org/drawingml/2006/main">
            <a:r>
              <a:t>- Qwen Image Edit: https://qwenlm.github.io/blog/qwen-image-edit/</a:t>
            </a:r>
          </a:p>
          <a:p xmlns:a="http://schemas.openxmlformats.org/drawingml/2006/main">
            <a:r>
              <a:t>- Hugging Face Diffusers LoRA: https://huggingface.co/docs/diffusers/training/lora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Qwen3 training / LoRA: https://github.com/QwenLM/Qwen3/blob/main/docs/source/training/ms_swift.md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Внутренняя постановка задачи и рабочие примеры заказчика.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NVIDIA GeForce RTX 5090: https://marketplace.nvidia.com/en-us/consumer/graphics-cards/geforce-rtx-5090-founders-edition/</a:t>
            </a:r>
          </a:p>
          <a:p xmlns:a="http://schemas.openxmlformats.org/drawingml/2006/main">
            <a:r>
              <a:t>- NVIDIA RTX PRO 6000: https://www.nvidia.com/en-us/products/workstations/professional-desktop-gpus/rtx-pro-6000/</a:t>
            </a:r>
          </a:p>
          <a:p xmlns:a="http://schemas.openxmlformats.org/drawingml/2006/main">
            <a:r>
              <a:t>- AMD Threadripper PRO 9995WX: https://www.amd.com/en/products/processors/workstations/ryzen-threadripper/9000-wx-series/amd-ryzen-threadripper-pro-9995wx.html</a:t>
            </a:r>
          </a:p>
          <a:p xmlns:a="http://schemas.openxmlformats.org/drawingml/2006/main">
            <a:r>
              <a:t>- AI Toolkit FLUX LoRA FAQ: https://github.com/ostris/ai-toolkit/blob/main/FAQ.md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Внутренняя постановка задачи и рабочие примеры заказчика.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Внутренняя постановка задачи и рабочие примеры заказчика.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a6de7fe47bae4a07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f100257aa81542fb" Type="http://schemas.openxmlformats.org/officeDocument/2006/relationships/theme" Target="theme/theme2.xml"/><Relationship Id="Rfa977d1d23844d45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a977d1d23844d4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691c0c7fed234bf6" Type="http://schemas.openxmlformats.org/officeDocument/2006/relationships/image" Target="../media/image.png"/><Relationship Id="R69cc7d9ad83648cd" Type="http://schemas.openxmlformats.org/officeDocument/2006/relationships/slideLayout" Target="../slideLayouts/slideLayout1.xml"/><Relationship Id="R817ae0961c84464d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bb03d6ab89684f1d" Type="http://schemas.openxmlformats.org/officeDocument/2006/relationships/slideLayout" Target="../slideLayouts/slideLayout1.xml"/><Relationship Id="Rd852773ccd064a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57e2d6135ed74a6b" Type="http://schemas.openxmlformats.org/officeDocument/2006/relationships/notesSlide" Target="../notesSlides/notesSlide3.xml"/><Relationship Id="Ra6d174d3692e4714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5b8766e9357f4f7c" Type="http://schemas.openxmlformats.org/officeDocument/2006/relationships/slideLayout" Target="../slideLayouts/slideLayout1.xml"/><Relationship Id="Reeaa0df036fb401c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10edb45aa4e24a73" Type="http://schemas.openxmlformats.org/officeDocument/2006/relationships/notesSlide" Target="../notesSlides/notesSlide5.xml"/><Relationship Id="R1e335ccd9b2b4874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4cd9d712040445e0" Type="http://schemas.openxmlformats.org/officeDocument/2006/relationships/slideLayout" Target="../slideLayouts/slideLayout1.xml"/><Relationship Id="Rc69bc8ab15d146a9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0a782e3cf09e4e62" Type="http://schemas.openxmlformats.org/officeDocument/2006/relationships/notesSlide" Target="../notesSlides/notesSlide7.xml"/><Relationship Id="R7a863872d8ac4405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5acf8bfa6d1549b0" Type="http://schemas.openxmlformats.org/officeDocument/2006/relationships/notesSlide" Target="../notesSlides/notesSlide8.xml"/><Relationship Id="Rad69ffceb97d4fce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30af95b7c6a44174" Type="http://schemas.openxmlformats.org/officeDocument/2006/relationships/slideLayout" Target="../slideLayouts/slideLayout1.xml"/><Relationship Id="R66788795b6364e1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33ac0a9913124477" Type="http://schemas.openxmlformats.org/officeDocument/2006/relationships/notesSlide" Target="../notesSlides/notesSlide10.xml"/><Relationship Id="Rdfcbfb2088114b3f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0a8fc3b0cfce47b1" Type="http://schemas.openxmlformats.org/officeDocument/2006/relationships/notesSlide" Target="../notesSlides/notesSlide11.xml"/><Relationship Id="R6529bb2ab0a644e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0f586579d5934adc" Type="http://schemas.openxmlformats.org/officeDocument/2006/relationships/slideLayout" Target="../slideLayouts/slideLayout1.xml"/><Relationship Id="R41852c5609b84959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414e57e6c7644f85" Type="http://schemas.openxmlformats.org/officeDocument/2006/relationships/notesSlide" Target="../notesSlides/notesSlide13.xml"/><Relationship Id="R66e8a3fbe5854afc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273bd991de7c45a3" Type="http://schemas.openxmlformats.org/officeDocument/2006/relationships/notesSlide" Target="../notesSlides/notesSlide14.xml"/><Relationship Id="R4884003c84104690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ba0e8baac094477c" Type="http://schemas.openxmlformats.org/officeDocument/2006/relationships/slideLayout" Target="../slideLayouts/slideLayout1.xml"/><Relationship Id="Rf8786714739c4f0f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a0d4d528d8974133" Type="http://schemas.openxmlformats.org/officeDocument/2006/relationships/notesSlide" Target="../notesSlides/notesSlide16.xml"/><Relationship Id="Rba44a578ee62482e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6" name="Rectangle 1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5" name="Rectangle 1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4" name="Rectangle 1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3" name="Rectangle 1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1c0c7fed234bf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76200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C60A3F-77AE-4AE6-97A9-FAE84F87B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5715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E1FF9A-F59D-4CD8-BF0E-8B1BB5C46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3EB003-196B-455D-8248-9CB5D1B2C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314450"/>
            <a:ext cx="17907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F609F1-4434-4A16-8E0A-16005E29E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371600"/>
            <a:ext cx="1600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23A68"/>
                </a:solidFill>
              </a:defRPr>
            </a:pPr>
            <a:r>
              <a:rPr sz="900" b="1">
                <a:solidFill>
                  <a:srgbClr val="123A68"/>
                </a:solidFill>
              </a:rPr>
              <a:t>СТРАТЕГИЯ •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08A322-3054-462A-8964-14EE57C91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000250"/>
            <a:ext cx="48101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827"/>
                </a:solidFill>
              </a:defRPr>
            </a:pPr>
            <a:r>
              <a:rPr sz="3450" b="1">
                <a:solidFill>
                  <a:srgbClr val="111827"/>
                </a:solidFill>
              </a:rPr>
              <a:t>Автоматизация</a:t>
            </a:r>
          </a:p>
          <a:p xmlns:a="http://schemas.openxmlformats.org/drawingml/2006/main">
            <a:pPr algn="l">
              <a:defRPr sz="3450" b="1">
                <a:solidFill>
                  <a:srgbClr val="111827"/>
                </a:solidFill>
              </a:defRPr>
            </a:pPr>
            <a:r>
              <a:rPr sz="3450" b="1">
                <a:solidFill>
                  <a:srgbClr val="111827"/>
                </a:solidFill>
              </a:rPr>
              <a:t>обложек и описаний КП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6054EB-83D0-4D4D-A94C-D11F0DB23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71900"/>
            <a:ext cx="4476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4155"/>
                </a:solidFill>
              </a:defRPr>
            </a:pPr>
            <a:r>
              <a:rPr sz="1575" b="0">
                <a:solidFill>
                  <a:srgbClr val="334155"/>
                </a:solidFill>
              </a:rPr>
              <a:t>Четыре варианта решения и поэтапный план внедрения AI в рабочий процесс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298B6E-8B76-44E5-A4DB-7CBA56D67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339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8A2673-FF5E-4BB2-8F63-63F0C2861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238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Главный принцип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E17C4E-0D46-46FD-B2D7-8835C2F1A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524500"/>
            <a:ext cx="409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3A68"/>
                </a:solidFill>
              </a:defRPr>
            </a:pPr>
            <a:r>
              <a:rPr sz="1575" b="1">
                <a:solidFill>
                  <a:srgbClr val="123A68"/>
                </a:solidFill>
              </a:rPr>
              <a:t>Сначала данные и контроль качества.</a:t>
            </a:r>
          </a:p>
          <a:p xmlns:a="http://schemas.openxmlformats.org/drawingml/2006/main">
            <a:pPr algn="l">
              <a:defRPr sz="1575" b="1">
                <a:solidFill>
                  <a:srgbClr val="123A68"/>
                </a:solidFill>
              </a:defRPr>
            </a:pPr>
            <a:r>
              <a:rPr sz="1575" b="1">
                <a:solidFill>
                  <a:srgbClr val="123A68"/>
                </a:solidFill>
              </a:rPr>
              <a:t>Потом — автоматизация решений.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F26EAA-55BE-4740-A574-F18CDAA70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9532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Рабочая концепция для обсуждения</a:t>
            </a:r>
          </a:p>
        </p:txBody>
      </p:sp>
    </p:spTree>
    <p:extLst>
      <p:ext uri="{BB962C8B-B14F-4D97-AF65-F5344CB8AC3E}">
        <p14:creationId xmlns:p14="http://schemas.microsoft.com/office/powerpoint/2010/main" val="1650446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33" name="Rectangle 32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2" name="Rectangle 31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1" name="Rectangle 30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0" name="Rectangle 29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5D5810-157B-4092-AC0A-BA34E10B2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632FA0-AB2F-49C7-BFBF-63093F40D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1239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КОРОТКИЙ ВЫВОД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4FF5BE-2FBF-4848-8D03-41B64909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390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Рекомендация: идти ступенями, а не прыгать сразу в «полный AI»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0988BB-8266-4AB9-BBA4-3BCD6DE12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019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AB1A7A-9D02-417F-9171-16229B496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72009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4A3B8"/>
                </a:solidFill>
              </a:defRPr>
            </a:pPr>
            <a:r>
              <a:rPr sz="825" b="1">
                <a:solidFill>
                  <a:srgbClr val="94A3B8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6859D9-18BB-4E26-8FA6-4808A3852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43150"/>
            <a:ext cx="109728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23A68"/>
          </a:solidFill>
          <a:ln xmlns:a="http://schemas.openxmlformats.org/drawingml/2006/main" w="9525">
            <a:solidFill>
              <a:srgbClr val="123A6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00F684-C40F-406F-89FE-B53BA8113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590800"/>
            <a:ext cx="10363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Надёжная автоматизация возможна только после появления таксономии систем, библиотеки изображений, карточек оборудования и размеченных примеров.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7BA4D4-0F23-4232-938F-A8275AF80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76650"/>
            <a:ext cx="2438400" cy="2152650"/>
          </a:xfrm>
          <a:prstGeom xmlns:a="http://schemas.openxmlformats.org/drawingml/2006/main" prst="roundRect">
            <a:avLst>
              <a:gd name="adj" fmla="val 5310"/>
            </a:avLst>
          </a:prstGeom>
          <a:solidFill xmlns:a="http://schemas.openxmlformats.org/drawingml/2006/main">
            <a:srgbClr val="EAF8F2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940232-C3C8-416E-8CA0-EAFD23F4F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867150"/>
            <a:ext cx="400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8F2"/>
          </a:solidFill>
          <a:ln xmlns:a="http://schemas.openxmlformats.org/drawingml/2006/main" w="9525">
            <a:solidFill>
              <a:srgbClr val="EAF8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A7BD6C-9324-4BD6-81E6-C15D2E098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924300"/>
            <a:ext cx="209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845B"/>
                </a:solidFill>
              </a:defRPr>
            </a:pPr>
            <a:r>
              <a:rPr sz="900" b="1">
                <a:solidFill>
                  <a:srgbClr val="17845B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9C76CA-B6ED-4C45-9C6A-F1ABD5A52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30530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Сейчас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483823-0593-4DA8-B0FB-87579CA77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705350"/>
            <a:ext cx="2057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Статичная универсальная обложка — без ошибок и ожидания дизайнеров.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BC4F9F-69BA-47FA-88A5-005D7F244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676650"/>
            <a:ext cx="2438400" cy="2152650"/>
          </a:xfrm>
          <a:prstGeom xmlns:a="http://schemas.openxmlformats.org/drawingml/2006/main" prst="roundRect">
            <a:avLst>
              <a:gd name="adj" fmla="val 5310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B5CD79-0DD9-4FB7-A717-CE325912F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67150"/>
            <a:ext cx="400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C9545F-AF85-42AC-841F-886F2DE1F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924300"/>
            <a:ext cx="209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6EC37A-C6C0-4E1C-B8CC-288AF1E93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30530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Параллельно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11C1B2-C65A-45DF-B382-31DA9D543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705350"/>
            <a:ext cx="2057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Собрать источники, роли, словарь назначений и эталонные КП.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3B00E4-BD06-44D8-8CB0-56B81247A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76650"/>
            <a:ext cx="2438400" cy="2152650"/>
          </a:xfrm>
          <a:prstGeom xmlns:a="http://schemas.openxmlformats.org/drawingml/2006/main" prst="roundRect">
            <a:avLst>
              <a:gd name="adj" fmla="val 5310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31FAB5-2FF9-44D9-9683-DAFA77B31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867150"/>
            <a:ext cx="400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E0D8A0-7FA0-42F3-A5AB-EAE32C9CF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24300"/>
            <a:ext cx="209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9EBD4B-12B4-4849-BB5E-B678A18DE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30530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После данных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138027-2D1A-422D-8480-F19F1F68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705350"/>
            <a:ext cx="2057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Запустить весовой классификатор и измерить точность на истории.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73456E-3176-42AA-806D-D39144E26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676650"/>
            <a:ext cx="2438400" cy="2152650"/>
          </a:xfrm>
          <a:prstGeom xmlns:a="http://schemas.openxmlformats.org/drawingml/2006/main" prst="roundRect">
            <a:avLst>
              <a:gd name="adj" fmla="val 5310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28FC2E-511D-461E-A0E9-B7CE22693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867150"/>
            <a:ext cx="400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4C448B-A21B-48F9-9855-94BFF0A2F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924300"/>
            <a:ext cx="209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A99A1B-7CEE-42E8-B753-8C7AC4310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30530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Затем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B2C107-2E26-4A30-9747-531A301D9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705350"/>
            <a:ext cx="2057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Подключить AI-анализ писем и файлов, генерацию текста и обложек.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90D634-38D7-4023-9398-9258E54EE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26745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23A68"/>
                </a:solidFill>
              </a:defRPr>
            </a:pPr>
            <a:r>
              <a:rPr sz="1575" b="1">
                <a:solidFill>
                  <a:srgbClr val="123A68"/>
                </a:solidFill>
              </a:rPr>
              <a:t>Так мы получаем пользу сразу и не превращаем проект в шестимесячное ожидание ресурсов.</a:t>
            </a:r>
          </a:p>
        </p:txBody>
      </p:sp>
    </p:spTree>
    <p:extLst>
      <p:ext uri="{BB962C8B-B14F-4D97-AF65-F5344CB8AC3E}">
        <p14:creationId xmlns:p14="http://schemas.microsoft.com/office/powerpoint/2010/main" val="14740136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33" name="Rectangle 32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2" name="Rectangle 31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1" name="Rectangle 30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0" name="Rectangle 29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4260ED-4CE9-4966-BCA4-501EDCCAC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CDC4C9-A9E5-4B62-A11F-9E1D0DB5F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1239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ПОЧЕМУ ЗАДАЧА СЛОЖНЕЕ, ЧЕМ ВЫБОР КАРТИНКИ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89F30F-3214-4D61-9F90-DD9C8CD5D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390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Исходные данные не образуют единого технического задания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30DD35-CC40-4497-94B0-BB4121453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019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0BED11-2BFA-418E-921F-0A0249A89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72009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4A3B8"/>
                </a:solidFill>
              </a:defRPr>
            </a:pPr>
            <a:r>
              <a:rPr sz="825" b="1">
                <a:solidFill>
                  <a:srgbClr val="94A3B8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39F7A5-B741-4B6D-8C8E-4DA132D80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43150"/>
            <a:ext cx="51816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CA457A-6167-43FE-B26B-E902669CF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533650"/>
            <a:ext cx="4381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CA5F6C-F580-44CE-B879-4BF050E8D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590800"/>
            <a:ext cx="247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8276CF-CC78-474A-BB62-5DBCA013F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5336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«Дайте подбор!»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68AA29-D85C-44EA-964A-1F097F2E0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89560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Одно предложение без назначения, состава и ограничений.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A5C608-0938-4A12-A723-BF066EDC9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43150"/>
            <a:ext cx="51816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8E299F-F1FB-4377-80E2-EA4AB567C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533650"/>
            <a:ext cx="4381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0E203F-6AF2-40AA-8487-70B4CBCC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590800"/>
            <a:ext cx="247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9D6911-88CD-47F1-BCD9-83E8D529C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5336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«Подберите замену»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5106EA-1C63-4878-87CC-C6D3F738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89560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Спецификация может быть текстом, сканом или картинкой — иногда без количества.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C49AAA-1CF3-4AC5-886F-015599282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00500"/>
            <a:ext cx="51816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E2E5FD-5F46-4C0D-B099-2AA9F325D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191000"/>
            <a:ext cx="4381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D0A97E-7470-4D16-B6CC-F4E66179A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248150"/>
            <a:ext cx="247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1F050A-0076-47EB-9CA2-D66AC12A7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1910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Чертёж с расстановкой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4FA074-9C33-46BE-9A9E-E94B79E82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5529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PDF, JPEG или DWG; обозначения, слои и качество отличаются.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603E13-B917-450E-8DD7-24FF4781A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00500"/>
            <a:ext cx="51816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D8F40E-DD40-44D8-B556-176861879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191000"/>
            <a:ext cx="4381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A5F8CC-B399-4C42-8952-E41C299E9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248150"/>
            <a:ext cx="247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62922E-80C0-4025-BEFA-0C327FA23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1910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Голая спецификация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94E97A-4A0C-4441-B87C-7A076B9DC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5529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Перечень позиций ещё не объясняет сценарий использования системы.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BE204C-20BC-4786-BA3E-65E2C89AE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810250"/>
            <a:ext cx="109728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FFF4E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7FCB98-E9BD-454E-A98B-B689D8D68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007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66512"/>
                </a:solidFill>
              </a:defRPr>
            </a:pPr>
            <a:r>
              <a:rPr sz="975" b="1">
                <a:solidFill>
                  <a:srgbClr val="B66512"/>
                </a:solidFill>
              </a:rPr>
              <a:t>Ключевое ограничение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A55E2A-E7E1-40E5-865B-121533DF8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9436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AI может извлечь и сопоставить присутствующие факты, но не может восстановить отсутствующие требования без риска выдумать их.</a:t>
            </a:r>
          </a:p>
        </p:txBody>
      </p:sp>
    </p:spTree>
    <p:extLst>
      <p:ext uri="{BB962C8B-B14F-4D97-AF65-F5344CB8AC3E}">
        <p14:creationId xmlns:p14="http://schemas.microsoft.com/office/powerpoint/2010/main" val="18501617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37" name="Rectangle 36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6" name="Rectangle 35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5" name="Rectangle 34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4" name="Rectangle 33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6ADCDBD-2DC3-4BDA-B697-36061E3D1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E9C4EA-5EA6-4DA3-A1DA-397141EE1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1239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КЛАССИФИКАЦИЯ НАЗНАЧЕНИЯ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B66D9D-1787-48AC-8151-D42AFB8BA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390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Название объекта отвечает на вопрос «где», но не «что строим»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431504-B5B6-4843-9652-9881F1A5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019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79D064-BBC7-4990-8E6C-1B91F2819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72009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4A3B8"/>
                </a:solidFill>
              </a:defRPr>
            </a:pPr>
            <a:r>
              <a:rPr sz="825" b="1">
                <a:solidFill>
                  <a:srgbClr val="94A3B8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D11F0C-A006-4068-9E0C-BCC068DDD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43150"/>
            <a:ext cx="5334000" cy="36576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666EB2-D518-45CF-BCE7-F6CD115D8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5717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Примеры поля «Объект»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32CEEB-6663-4826-B9B2-014A230B7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009900"/>
            <a:ext cx="464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9A7FCA-DCC5-4893-B636-E3A2129B0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067050"/>
            <a:ext cx="4457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34155"/>
                </a:solidFill>
              </a:defRPr>
            </a:pPr>
            <a:r>
              <a:rPr sz="900" b="1">
                <a:solidFill>
                  <a:srgbClr val="334155"/>
                </a:solidFill>
              </a:rPr>
              <a:t>Стоматологическая поликлиника №2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9BF5E8-9DD5-4560-84AE-A023F7150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533775"/>
            <a:ext cx="464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2339F5-0F1B-4318-B2D8-8919F6363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590925"/>
            <a:ext cx="4457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34155"/>
                </a:solidFill>
              </a:defRPr>
            </a:pPr>
            <a:r>
              <a:rPr sz="900" b="1">
                <a:solidFill>
                  <a:srgbClr val="334155"/>
                </a:solidFill>
              </a:rPr>
              <a:t>Корякская окружная больница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EDA7BA-2C6F-426A-BA94-D6E3CB2CB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057650"/>
            <a:ext cx="464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FDC05D-A65C-4EEF-8DBA-9CD0C5865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114800"/>
            <a:ext cx="4457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34155"/>
                </a:solidFill>
              </a:defRPr>
            </a:pPr>
            <a:r>
              <a:rPr sz="900" b="1">
                <a:solidFill>
                  <a:srgbClr val="334155"/>
                </a:solidFill>
              </a:rPr>
              <a:t>Административно-бытовой комплекс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AACEB8-25FA-4582-AE9C-81F60BBBE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581525"/>
            <a:ext cx="464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8F57E5-1D04-4854-971D-163CC3821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638675"/>
            <a:ext cx="4457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34155"/>
                </a:solidFill>
              </a:defRPr>
            </a:pPr>
            <a:r>
              <a:rPr sz="900" b="1">
                <a:solidFill>
                  <a:srgbClr val="334155"/>
                </a:solidFill>
              </a:rPr>
              <a:t>Фабрика по переработке углей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7B6943-25B6-40AA-A5D9-EA5882B1B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105400"/>
            <a:ext cx="464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608E19-C037-4A4D-BEA7-8D909EBA2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162550"/>
            <a:ext cx="4457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34155"/>
                </a:solidFill>
              </a:defRPr>
            </a:pPr>
            <a:r>
              <a:rPr sz="900" b="1">
                <a:solidFill>
                  <a:srgbClr val="334155"/>
                </a:solidFill>
              </a:rPr>
              <a:t>Капитальный ремонт общежития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187DC3-7B9D-445B-8ABA-BAAABD643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71500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Один и тот же объект может требовать СОУЭ, трансляцию, конференц-связь, фоновую музыку или несколько систем одновременно.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BF0B17-325A-4236-BBB3-78FCBBDFB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619500"/>
            <a:ext cx="666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3D8DFF"/>
                </a:solidFill>
              </a:defRPr>
            </a:pPr>
            <a:r>
              <a:rPr sz="4050" b="1">
                <a:solidFill>
                  <a:srgbClr val="3D8DFF"/>
                </a:solidFill>
              </a:rPr>
              <a:t>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1E1E40-26D7-41F1-BB44-2EBE4DB2A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343150"/>
            <a:ext cx="4572000" cy="36576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A0AA29-5EA5-4004-AC29-6C6552FF2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609850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3A68"/>
                </a:solidFill>
              </a:defRPr>
            </a:pPr>
            <a:r>
              <a:rPr sz="1425" b="1">
                <a:solidFill>
                  <a:srgbClr val="123A68"/>
                </a:solidFill>
              </a:rPr>
              <a:t>Назначение системы определяется сочетанием: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C4A05F-96ED-4E28-87E3-0ACC18F09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43275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F2A479-5750-4B74-AC3E-7AC4BB19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95650"/>
            <a:ext cx="3733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Состава оборудования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7DC7AE-ACB0-424D-8931-A9CF29CCD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552825"/>
            <a:ext cx="3733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Модели, категории, количества, бренды и совместимость.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3A5379-C29C-4281-BD5D-CC47D6F08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124325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4DC07C-05D0-4B30-91C6-0B721BB5B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76700"/>
            <a:ext cx="3733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Контекста заявки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4BF737-41CA-448D-A0B9-20C48AB76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33875"/>
            <a:ext cx="3733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Формулировки в письмах, ТЗ, схемах, примечаниях.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350059-D390-4F9F-82DD-8A4986418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905375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A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9918BB1-44D0-487E-9B41-3DE8FDCAA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57750"/>
            <a:ext cx="3733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Инженерных признаков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B4A663B-DA83-4553-B8F9-B027D8FF0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114925"/>
            <a:ext cx="3733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Топология, зоны, каналы, мощность, резервирование.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3363300-1CC9-4381-979B-B2019764D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6229350"/>
            <a:ext cx="45720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23A68"/>
          </a:solidFill>
          <a:ln xmlns:a="http://schemas.openxmlformats.org/drawingml/2006/main" w="9525">
            <a:solidFill>
              <a:srgbClr val="123A6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BE83FE-E135-4529-9FCB-07062E4BF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63817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Поле «Объект» — лишь слабый дополнительный сигнал</a:t>
            </a:r>
          </a:p>
        </p:txBody>
      </p:sp>
    </p:spTree>
    <p:extLst>
      <p:ext uri="{BB962C8B-B14F-4D97-AF65-F5344CB8AC3E}">
        <p14:creationId xmlns:p14="http://schemas.microsoft.com/office/powerpoint/2010/main" val="18849122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97" name="Rectangle 96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96" name="Rectangle 95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95" name="Rectangle 94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94" name="Rectangle 93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4F7EABAE-017A-47BE-ADC6-D6200A9F7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7D0D9A-16D8-4F06-B59A-D708D6D62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1239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КАРТА РЕШЕНИЙ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9DAEC6-64DA-45D8-98C7-F7BD5A1DE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390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Четыре варианта — от мгновенного компромисса до AI-платформы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DA6D9D-3A55-4DE3-BA73-59FB254A9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019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9BEE6F-5697-44D5-BDFA-19069B60B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72009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4A3B8"/>
                </a:solidFill>
              </a:defRPr>
            </a:pPr>
            <a:r>
              <a:rPr sz="825" b="1">
                <a:solidFill>
                  <a:srgbClr val="94A3B8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476141-9242-431E-993E-37F068416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05050"/>
            <a:ext cx="2533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A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40C4A5-C25A-4AF4-B0D3-D9917EBB0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28875"/>
            <a:ext cx="2343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Вариант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B753E2-B3BB-46CA-8D81-68781C69F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0505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A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FD98ED-A36A-491F-91A8-D439A9A25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42887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Запуск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F19087-DDF7-4BE2-BEC5-8CC0784DD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30505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A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D03136-5453-4E99-B787-2CC63E04D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42887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Автоматизация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50DD05-AEEA-4388-A213-F9B4D2BD1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0505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A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F1E611-EA8D-4108-BA75-5376BB339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2887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Точность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811F5F-9453-48EA-8884-462D29795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0505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A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D84C21-0EF3-4349-A434-955991233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2887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Зависимость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8ED042-14FD-4962-BB70-BF70A4064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305050"/>
            <a:ext cx="1962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A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29D7CE-8295-4DA5-A6FE-AF2A43A60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428875"/>
            <a:ext cx="177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Вывод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5CFE32-2AAA-40B4-AC9C-0CDAC46B0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743200"/>
            <a:ext cx="25336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3436A5-F350-43B7-9190-596025397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76625"/>
            <a:ext cx="2533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5698D1-DE4E-456F-8A5F-9D0988EAD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24175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34155"/>
                </a:solidFill>
              </a:defRPr>
            </a:pPr>
            <a:r>
              <a:rPr sz="1125" b="1">
                <a:solidFill>
                  <a:srgbClr val="334155"/>
                </a:solidFill>
              </a:rPr>
              <a:t>1. Ручной выбор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D78F17-1D94-42A0-BD98-416248102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43200"/>
            <a:ext cx="161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CBD6A5-ECC9-4A0C-B448-2A66C7975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476625"/>
            <a:ext cx="161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0CD5DF-2B0D-439F-95CD-7AA8C795A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92417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6+ мес.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477F78-9C08-4934-956E-245629230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743200"/>
            <a:ext cx="161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E73856-A19C-45CC-A9DB-D01C998B9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476625"/>
            <a:ext cx="161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63A653-46E9-4126-B15C-AE64B0F41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92417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Низкая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24AC33-FBBA-4A75-A50B-CB3F3E1A7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43200"/>
            <a:ext cx="161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F27AD0-EC81-4114-937B-A98418576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76625"/>
            <a:ext cx="161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EB0073-04C9-456B-BA7C-FA038BF23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2417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Высокая*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DB5865-0B35-4E63-8C58-3A80437A5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43200"/>
            <a:ext cx="161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80EE84A-54ED-41FF-9BEB-CFD3C8B43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476625"/>
            <a:ext cx="161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07746EB-56E2-4B77-9C0C-6F0027F5B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2417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Дизайнеры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4D97A5F-60BF-43FE-BAC3-4AB0F6CB8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743200"/>
            <a:ext cx="1962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9F0D6D8-ED87-4DB1-ACFC-F3A50657A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476625"/>
            <a:ext cx="1962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C5736D0-8479-4E84-832A-E673F52BE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924175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34155"/>
                </a:solidFill>
              </a:defRPr>
            </a:pPr>
            <a:r>
              <a:rPr sz="1050" b="1">
                <a:solidFill>
                  <a:srgbClr val="334155"/>
                </a:solidFill>
              </a:rPr>
              <a:t>Понятно, но долго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9D33AD5-0BF9-4667-A880-1A047652A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86150"/>
            <a:ext cx="25336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F0068E8-A5E8-455F-903F-E6FC2B4DB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219575"/>
            <a:ext cx="2533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4B0254C-CA62-4F8D-9389-CB54963D4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667125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34155"/>
                </a:solidFill>
              </a:defRPr>
            </a:pPr>
            <a:r>
              <a:rPr sz="1125" b="1">
                <a:solidFill>
                  <a:srgbClr val="334155"/>
                </a:solidFill>
              </a:rPr>
              <a:t>2. Веса + библиотека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6C71F5A-FD93-46A5-BA5F-436658B72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486150"/>
            <a:ext cx="161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EC77C8B-B606-4FEB-B222-42DB5A2A0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19575"/>
            <a:ext cx="161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921775D-93CA-424C-BC50-994D2EF95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6712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2 + 6 мес.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D219880-1D82-4636-B44A-20A5859FA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486150"/>
            <a:ext cx="161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052D763-2091-441A-BB8C-C5F809DA6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219575"/>
            <a:ext cx="161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568FCCD-E592-4513-8734-00C2E10BD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66712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Средняя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8888294-0B3F-46CD-8CF4-DC18A65E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86150"/>
            <a:ext cx="161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D432B26-11AA-4B4E-9867-76A4B414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219575"/>
            <a:ext cx="161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EF3734E-1F87-402F-B041-99F7E9D68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6712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Низкая–средняя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97E20E3-3680-4AF8-9B25-E2FBAE18F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486150"/>
            <a:ext cx="161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B7F0762-136D-4211-9D38-D45FC63D9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219575"/>
            <a:ext cx="161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5746730-7B79-4519-A26B-EAF2086C7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6712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Данные + дизайн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920599D-6A40-401C-A0A5-2888F4934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486150"/>
            <a:ext cx="1962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C8F7022-9CCF-4FBA-AEF0-3430A4C6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219575"/>
            <a:ext cx="1962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CB4E635-F9A0-40E1-96AD-EDFAB9A34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667125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34155"/>
                </a:solidFill>
              </a:defRPr>
            </a:pPr>
            <a:r>
              <a:rPr sz="1050" b="1">
                <a:solidFill>
                  <a:srgbClr val="334155"/>
                </a:solidFill>
              </a:rPr>
              <a:t>Проверяемая база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227DD32-7BD0-4ABD-B28D-D5D2B06C2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229100"/>
            <a:ext cx="25336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E01F741-5D45-4EC4-890F-358838B25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62525"/>
            <a:ext cx="2533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7369868-316B-47BB-A228-15976B85F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10075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34155"/>
                </a:solidFill>
              </a:defRPr>
            </a:pPr>
            <a:r>
              <a:rPr sz="1125" b="1">
                <a:solidFill>
                  <a:srgbClr val="334155"/>
                </a:solidFill>
              </a:rPr>
              <a:t>3. Статичная обложка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CDFAA26-C52D-4E0E-9D54-A5816014E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29100"/>
            <a:ext cx="161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F88F23E-BBEC-4CEE-A238-4BCB4B318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962525"/>
            <a:ext cx="161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48E8308-E752-4E1F-B6BA-FE1BC918D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41007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Сразу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2035C85-2246-4C34-92E3-2A5BB6810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229100"/>
            <a:ext cx="161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608646E-6A3A-49B8-9129-82E1E68A4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962525"/>
            <a:ext cx="161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D1EAFB1-236B-4614-A10A-608E68EE0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41007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Нет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15C9015-0FA7-448F-AAA0-CCC23379B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229100"/>
            <a:ext cx="161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4D9846F-9680-457D-BD8F-482DF00F5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962525"/>
            <a:ext cx="161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29729E9-3876-4AA0-B598-4D840FA71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1007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Стабильная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79B564D-8670-4567-B62A-315AB9988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229100"/>
            <a:ext cx="161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B5DA906-BF5A-4906-87DC-A52583F0B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962525"/>
            <a:ext cx="161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9B1AED9-FED8-4CBB-9EA4-361C8C393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1007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Нет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7E0FAA5-007B-4270-BDC1-87AA815BD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229100"/>
            <a:ext cx="1962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74DC75D-E05F-48F5-B592-F90E56444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962525"/>
            <a:ext cx="1962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99A900C-A878-457F-8ED1-20B46A892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410075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845B"/>
                </a:solidFill>
              </a:defRPr>
            </a:pPr>
            <a:r>
              <a:rPr sz="1050" b="1">
                <a:solidFill>
                  <a:srgbClr val="17845B"/>
                </a:solidFill>
              </a:rPr>
              <a:t>Лучший быстрый шаг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7705B3F-8909-4868-97FB-A11BB1697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72050"/>
            <a:ext cx="25336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CFE22F3-D3C9-4827-877F-ED963D9E0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705475"/>
            <a:ext cx="2533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60C64E2-0C39-41A8-968B-9CBB6C6C7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153025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34155"/>
                </a:solidFill>
              </a:defRPr>
            </a:pPr>
            <a:r>
              <a:rPr sz="1125" b="1">
                <a:solidFill>
                  <a:srgbClr val="334155"/>
                </a:solidFill>
              </a:rPr>
              <a:t>4. AI-анализатор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74FAC65-8938-4326-BF9B-72436E5B1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972050"/>
            <a:ext cx="161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EC842FE-6C78-4D54-8765-FA23DC84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705475"/>
            <a:ext cx="161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82404E3-4FDF-41E7-B2EB-78C191069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5302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После 2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25F00A3-628F-4DA7-8419-CEDAFADA4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972050"/>
            <a:ext cx="161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93D8410-49B6-46EE-9B8C-A5F5BEEFC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705475"/>
            <a:ext cx="161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8BBC4E9-69B7-48C4-98BE-F4F15FA2B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15302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Высокая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DA38028-8474-4622-860A-788D6D4F7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972050"/>
            <a:ext cx="161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F0FCFC83-7D8E-42D9-A8C2-90DB7237C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705475"/>
            <a:ext cx="161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F495488-44AD-424A-9481-4F1A98863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15302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Растёт с данными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CBA5C52-32A2-4D7F-9C29-D47979855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972050"/>
            <a:ext cx="161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4D539AD-50E2-4B82-A840-CB2494336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705475"/>
            <a:ext cx="161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E9E991C5-1C78-4D67-8D47-29174C18D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15302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ML + разметка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E918E66-C845-484C-9CF6-652F60832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972050"/>
            <a:ext cx="1962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A4D9D83A-C9CE-496A-B787-948AEC02E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705475"/>
            <a:ext cx="1962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69F3E0F8-557B-48B2-96B2-65AE8A044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153025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34155"/>
                </a:solidFill>
              </a:defRPr>
            </a:pPr>
            <a:r>
              <a:rPr sz="1050" b="1">
                <a:solidFill>
                  <a:srgbClr val="334155"/>
                </a:solidFill>
              </a:rPr>
              <a:t>Стратегическая цель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AA8888A-A68C-45C7-A158-1CA1632E3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9817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* При наличии готовой и правильно выбранной менеджером иллюстрации.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6B74FB98-FB22-4061-98EB-62DE51475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343650"/>
            <a:ext cx="109728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23A68"/>
          </a:solidFill>
          <a:ln xmlns:a="http://schemas.openxmlformats.org/drawingml/2006/main" w="9525">
            <a:solidFill>
              <a:srgbClr val="123A6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111E6D45-EDB1-40B3-8EC8-3C030B3C7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486525"/>
            <a:ext cx="1059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Вариант 3 закрывает сегодняшний риск. Вариант 4 — отдельная программа цифровизации, а не «ещё одна функция PDF».</a:t>
            </a:r>
          </a:p>
        </p:txBody>
      </p:sp>
    </p:spTree>
    <p:extLst>
      <p:ext uri="{BB962C8B-B14F-4D97-AF65-F5344CB8AC3E}">
        <p14:creationId xmlns:p14="http://schemas.microsoft.com/office/powerpoint/2010/main" val="82698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39" name="Rectangle 38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8" name="Rectangle 37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7" name="Rectangle 36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6" name="Rectangle 35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75634D9-5B31-47E6-92FA-9D1BE68A5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EAA970-73FA-45FD-A041-C386A9EAB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1239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РУЧНОЙ СЦЕНАРИЙ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F2C729-B35A-4DBD-86A1-2C2D2C1F8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390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Вариант 1. Дизайнерская библиотека + ручной выбор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6040C0-6673-439C-9CD2-5B0D10729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019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B3891A-B082-47F7-AAB0-B2DB96FCC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72009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4A3B8"/>
                </a:solidFill>
              </a:defRPr>
            </a:pPr>
            <a:r>
              <a:rPr sz="825" b="1">
                <a:solidFill>
                  <a:srgbClr val="94A3B8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9FC3E6-127C-47B3-BFA5-8BD57CB1C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62200"/>
            <a:ext cx="1714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1DA7B4-CB02-4FD4-91E9-A408F753F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19350"/>
            <a:ext cx="1524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23A68"/>
                </a:solidFill>
              </a:defRPr>
            </a:pPr>
            <a:r>
              <a:rPr sz="900" b="1">
                <a:solidFill>
                  <a:srgbClr val="123A68"/>
                </a:solidFill>
              </a:rPr>
              <a:t>ДИЗАЙНЕРЫ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96B348-DADC-4B6D-9F9B-31D21EEC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32410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</a:defRPr>
            </a:pPr>
            <a:r>
              <a:rPr sz="195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88B46C-A9A4-40C7-AA65-D81DDDC63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362200"/>
            <a:ext cx="1714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10538F-A779-4135-92D3-67312B859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419350"/>
            <a:ext cx="1524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23A68"/>
                </a:solidFill>
              </a:defRPr>
            </a:pPr>
            <a:r>
              <a:rPr sz="900" b="1">
                <a:solidFill>
                  <a:srgbClr val="123A68"/>
                </a:solidFill>
              </a:rPr>
              <a:t>БИБЛИОТЕКА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4BE63E-84FE-486A-BFE7-E6EBAD359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32410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</a:defRPr>
            </a:pPr>
            <a:r>
              <a:rPr sz="195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6B6BF5-1FCB-4633-A54E-05A1C5834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62200"/>
            <a:ext cx="1714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836DCA-5144-45B4-BC7E-1E8988B28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19350"/>
            <a:ext cx="1524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23A68"/>
                </a:solidFill>
              </a:defRPr>
            </a:pPr>
            <a:r>
              <a:rPr sz="900" b="1">
                <a:solidFill>
                  <a:srgbClr val="123A68"/>
                </a:solidFill>
              </a:rPr>
              <a:t>МЕНЕДЖЕР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A41476-10E1-41D6-A61C-21ABB1557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2410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</a:defRPr>
            </a:pPr>
            <a:r>
              <a:rPr sz="195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9EFC69-2780-4A98-A2B8-031F1186F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362200"/>
            <a:ext cx="1143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8F2"/>
          </a:solidFill>
          <a:ln xmlns:a="http://schemas.openxmlformats.org/drawingml/2006/main" w="9525">
            <a:solidFill>
              <a:srgbClr val="EAF8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201CA2-7B26-4447-A2DD-34762E42C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419350"/>
            <a:ext cx="952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845B"/>
                </a:solidFill>
              </a:defRPr>
            </a:pPr>
            <a:r>
              <a:rPr sz="900" b="1">
                <a:solidFill>
                  <a:srgbClr val="17845B"/>
                </a:solidFill>
              </a:rPr>
              <a:t>КП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F13972-0874-4424-B54F-A5DA22FB7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048000"/>
            <a:ext cx="5257800" cy="278130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610F63-7740-4E66-8504-83AFF9C54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2956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Что потребуется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E45091-9D17-4839-9C39-4837E5E2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38575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9D7D80-D426-435F-8416-1065C7F6F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790950"/>
            <a:ext cx="440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Набор обложек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7AC810-7DE5-466C-9C3D-F03DC3D25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048125"/>
            <a:ext cx="440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По брендам, назначениям и композициям.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C7B7DC-C1B9-464D-B7D6-422FF3037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600575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D925EF-47B9-4640-8989-C56E18962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552950"/>
            <a:ext cx="440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Каталог с превью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53FB88-B903-4A71-BE13-9B69C5466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810125"/>
            <a:ext cx="440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Понятные имена, фильтры и правила использования.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1497EB-4ED9-46BB-8EC1-44F38E315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362575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A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796FB6-179E-4654-9CCE-BEFCD1A70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314950"/>
            <a:ext cx="440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Время менеджера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6E4C8E-77D9-404F-97D2-77BED06F6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572125"/>
            <a:ext cx="440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Каждое КП требует осознанного ручного выбора.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A15BD1-62DB-4954-B680-57BDBE2A9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048000"/>
            <a:ext cx="5410200" cy="278130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9525">
            <a:solidFill>
              <a:srgbClr val="FFF0F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FD2844-F778-4B1B-B835-8C661F05E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2956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43C45"/>
                </a:solidFill>
              </a:defRPr>
            </a:pPr>
            <a:r>
              <a:rPr sz="1500" b="1">
                <a:solidFill>
                  <a:srgbClr val="B43C45"/>
                </a:solidFill>
              </a:rPr>
              <a:t>Ограничение ресурса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9506CE-D699-43FE-80BA-9758E306B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7909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B43C45"/>
                </a:solidFill>
              </a:defRPr>
            </a:pPr>
            <a:r>
              <a:rPr sz="2400" b="1">
                <a:solidFill>
                  <a:srgbClr val="B43C45"/>
                </a:solidFill>
              </a:rPr>
              <a:t>≈ 6+ месяцев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AE83A02-AA7C-4D1C-B090-3D6883545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2481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ожидание доступности дизайнеров и выпуска библиотеки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E97744A-88C7-4CBA-80DB-206191608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80060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Сценарий не зависит от качества AI, но полностью зависит от наличия визуалов и дисциплины выбора.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2637DF4-D0CA-4364-A2EE-F8E1C68FE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191250"/>
            <a:ext cx="109728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FFF4E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8514527-4DE7-45DF-A7C4-4A270A9D3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362700"/>
            <a:ext cx="10515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66512"/>
                </a:solidFill>
              </a:defRPr>
            </a:pPr>
            <a:r>
              <a:rPr sz="1350" b="1">
                <a:solidFill>
                  <a:srgbClr val="B66512"/>
                </a:solidFill>
              </a:rPr>
              <a:t>Подходит как контролируемый ручной процесс — но не решает задачу «менеджер не должен думать и выбирать».</a:t>
            </a:r>
          </a:p>
        </p:txBody>
      </p:sp>
    </p:spTree>
    <p:extLst>
      <p:ext uri="{BB962C8B-B14F-4D97-AF65-F5344CB8AC3E}">
        <p14:creationId xmlns:p14="http://schemas.microsoft.com/office/powerpoint/2010/main" val="2690216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45" name="Rectangle 44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4" name="Rectangle 43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3" name="Rectangle 42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2" name="Rectangle 41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33AFF0A-9012-43FB-9C49-C46810796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85B514-7BB9-4737-ADC6-0FC551895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1239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ВАРИАНТ 2 • АЛГОРИТМИЧЕСКАЯ АВТОМАТИЗАЦИЯ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21BD58-0EBF-48C9-AAE5-BA13E3625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390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Весовая классификация по спецификации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AB1E6C-A0D0-43DD-AC16-D23603976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019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E54B23-3BAB-41EC-AA6E-9E0D672B7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72009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4A3B8"/>
                </a:solidFill>
              </a:defRPr>
            </a:pPr>
            <a:r>
              <a:rPr sz="825" b="1">
                <a:solidFill>
                  <a:srgbClr val="94A3B8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6578E2-55CC-449A-B474-CC7FD3517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8130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</a:defRPr>
            </a:pPr>
            <a:r>
              <a:rPr sz="195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D9A135-30B1-4801-8AC2-B19B8FF37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419350"/>
            <a:ext cx="23241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EE9B54-5B92-4FC7-8297-1FA7BA2D1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609850"/>
            <a:ext cx="1981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Спецификация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9A244C-D995-4F8D-8164-004E539C9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971800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Модели • бренды • количество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5DF0DB-CB12-4D88-9341-9AC3FA16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8130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</a:defRPr>
            </a:pPr>
            <a:r>
              <a:rPr sz="195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EE373B-5E94-46DF-9143-5822864F6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419350"/>
            <a:ext cx="23241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D55E2C-F128-4857-B21C-1567D8453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609850"/>
            <a:ext cx="1981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Веса оборудования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D4A436-37CB-4205-8B66-7A806353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971800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P(назначение | позиция)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D3F88E-548C-45EE-9C2C-7C9907CCB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78130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</a:defRPr>
            </a:pPr>
            <a:r>
              <a:rPr sz="195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3CC578-784D-4748-A3E1-84B1FFAB3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19350"/>
            <a:ext cx="23241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95DF8D-1385-4272-9B4E-2D504E129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609850"/>
            <a:ext cx="1981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Сумма и правила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3B0230-D814-4A4D-ABEC-9874AAA58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971800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Сигналы + ограничения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FF29B8-0360-4EE2-81B9-103C002E8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19350"/>
            <a:ext cx="23241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AF8F2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752C22-E3FE-4D20-B1E7-57EDFEF7F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609850"/>
            <a:ext cx="1981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Обложка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716AB9-E608-42E7-9F47-C36CD6070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71800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Бренд × назначение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A605ED-43F1-493A-8204-4292942CB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05250"/>
            <a:ext cx="68580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70BB13-3263-47B3-873C-1C94B9BF6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114800"/>
            <a:ext cx="647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3A68"/>
                </a:solidFill>
              </a:defRPr>
            </a:pPr>
            <a:r>
              <a:rPr sz="1425" b="1">
                <a:solidFill>
                  <a:srgbClr val="123A68"/>
                </a:solidFill>
              </a:rPr>
              <a:t>Минимальная модель данных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911601-5B06-4071-A8B1-73B5E8080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49580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4DB7F3-0ECC-4B67-A4CE-CBB76502A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486275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Справочник назначений и типов систем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4C9850-D3E0-4F34-A1D1-16914D45E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77202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4F1371-F235-48DA-B7EE-0BB4D0AC0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7625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Категория, бренд и модель каждой позиции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19D1A6-6CC8-4C7C-889E-945592C90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0482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5DDE76-849B-4614-A6CD-4821FB6DC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038725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Матрица весов: позиция → назначение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0B2B47-6376-425F-949C-88DB6E28F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32447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C4E30AF-4723-4A4B-900A-6F92605DD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3149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Правила конфликтов, пороги уверенности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E75D69-9193-4A6F-B4FB-FE58B176D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60070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DF65650-E4A2-4E36-BCEE-FE4B23B9A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591175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Библиотека обложек с такой же разметкой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2D7CC22-2015-4DD8-B64F-65D018069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905250"/>
            <a:ext cx="38100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FFF4E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E6D82E4-E67C-4279-B7B9-9C98E3A75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1148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66512"/>
                </a:solidFill>
              </a:defRPr>
            </a:pPr>
            <a:r>
              <a:rPr sz="1425" b="1">
                <a:solidFill>
                  <a:srgbClr val="B66512"/>
                </a:solidFill>
              </a:rPr>
              <a:t>Оценка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D820339-A841-4E8A-B557-F40240CD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5148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B66512"/>
                </a:solidFill>
              </a:defRPr>
            </a:pPr>
            <a:r>
              <a:rPr sz="2400" b="1">
                <a:solidFill>
                  <a:srgbClr val="B66512"/>
                </a:solidFill>
              </a:rPr>
              <a:t>≈ 2 месяца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252F1AF-EB1C-408F-AE16-7EDAFABF3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9720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алгоритм, интерфейсы разметки и первичная настройка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457D227-E50A-403B-A84E-5BD044D12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2768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B43C45"/>
                </a:solidFill>
              </a:defRPr>
            </a:pPr>
            <a:r>
              <a:rPr sz="2400" b="1">
                <a:solidFill>
                  <a:srgbClr val="B43C45"/>
                </a:solidFill>
              </a:rPr>
              <a:t>6+ месяцев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7C1516A-607C-4249-828D-360F5CFDB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7340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создание обложек и коллажей дизайнерами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F5D6BC1-F9D6-4EB7-944C-BD0EA2E96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324600"/>
            <a:ext cx="109728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23A68"/>
          </a:solidFill>
          <a:ln xmlns:a="http://schemas.openxmlformats.org/drawingml/2006/main" w="9525">
            <a:solidFill>
              <a:srgbClr val="123A6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85E6090-C3E7-485D-8C81-BB4B7A5C2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477000"/>
            <a:ext cx="10591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Точность будет ограниченной: одинаковый состав может использоваться в разных сценариях, а часть ТЗ отсутствует.</a:t>
            </a:r>
          </a:p>
        </p:txBody>
      </p:sp>
    </p:spTree>
    <p:extLst>
      <p:ext uri="{BB962C8B-B14F-4D97-AF65-F5344CB8AC3E}">
        <p14:creationId xmlns:p14="http://schemas.microsoft.com/office/powerpoint/2010/main" val="11160687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8" name="Rectangle 27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7" name="Rectangle 26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6" name="Rectangle 25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5" name="Rectangle 24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807C52-CC8F-4895-AAA7-3A8F07DB4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971373-A7EC-4520-A381-8C95AB8D3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1239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БЫСТРОЕ РЕШЕНИЕ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D2D3D7-9CA0-484B-83DE-158B07341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390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Вариант 3. Одна абстрактная обложка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B37FB4-5A3C-45D9-B40C-FDACB9F05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019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4E3FA9-5887-4172-B0DE-7C59AE861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72009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4A3B8"/>
                </a:solidFill>
              </a:defRPr>
            </a:pPr>
            <a:r>
              <a:rPr sz="825" b="1">
                <a:solidFill>
                  <a:srgbClr val="94A3B8"/>
                </a:solidFill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47ED7B-61A0-4F9A-A9FD-A0C064697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43150"/>
            <a:ext cx="4762500" cy="3848100"/>
          </a:xfrm>
          <a:prstGeom xmlns:a="http://schemas.openxmlformats.org/drawingml/2006/main" prst="roundRect">
            <a:avLst>
              <a:gd name="adj" fmla="val 2970"/>
            </a:avLst>
          </a:prstGeom>
          <a:solidFill xmlns:a="http://schemas.openxmlformats.org/drawingml/2006/main">
            <a:srgbClr val="123A68"/>
          </a:solidFill>
          <a:ln xmlns:a="http://schemas.openxmlformats.org/drawingml/2006/main" w="9525">
            <a:solidFill>
              <a:srgbClr val="123A6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158A6C-7592-4C56-BF17-765C8F5E1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705100"/>
            <a:ext cx="2857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ОДИН</a:t>
            </a:r>
          </a:p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ВИЗУАЛ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92AC57-37EE-49C2-87EA-B58F61EE9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981450"/>
            <a:ext cx="3543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A04DC1-4D5A-4CD4-BC07-12B49DD5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229100"/>
            <a:ext cx="2762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4DAB2B-48C6-445C-83C2-AD2A1D12F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76750"/>
            <a:ext cx="2019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1E4303-EFA3-4008-AFA8-CAD7DB000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067300"/>
            <a:ext cx="381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Нейтральная композиция без привязки к конкретному оборудованию и назначению.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556C0F-82B6-4375-86A1-7321526D4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193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Почему это разумно сейчас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237479-6B80-4477-B8AE-BB98CA3C5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76575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61B306-89F9-4D18-BE5A-F7995C6DD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28950"/>
            <a:ext cx="5162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Запуск без ожидания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DEFA00-A24D-4FC0-AB6C-E244D57A0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86125"/>
            <a:ext cx="516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Не зависит от дизайнерской очереди и разметки.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4069A4-5408-4818-A933-12E8C4E84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914775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0AC1AE-A4AE-42CE-A546-6F3AD1D57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67150"/>
            <a:ext cx="5162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Нулевая ошибка выбора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F2B0EC-7B4B-4B3B-8420-9586C4CAF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124325"/>
            <a:ext cx="516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Нельзя поставить «не ту» систему или чужой бренд.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09F791-DD9B-4CD0-975D-B4F24E2AE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752975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BFEA08-1722-40B8-A79B-C37B57C0A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705350"/>
            <a:ext cx="5162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Стабильный фирменный стиль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DCC1F1-AE9C-41FB-9BF6-FC019E74D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962525"/>
            <a:ext cx="516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КП выглядит единообразно на всех сценариях.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697226-9C2E-4E9A-8AF3-0FBA3A524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676900"/>
            <a:ext cx="5334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8F2"/>
          </a:solidFill>
          <a:ln xmlns:a="http://schemas.openxmlformats.org/drawingml/2006/main" w="9525">
            <a:solidFill>
              <a:srgbClr val="EAF8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93F16E-3C14-4F89-857D-C745E9760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810250"/>
            <a:ext cx="487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845B"/>
                </a:solidFill>
              </a:defRPr>
            </a:pPr>
            <a:r>
              <a:rPr sz="1425" b="1">
                <a:solidFill>
                  <a:srgbClr val="17845B"/>
                </a:solidFill>
              </a:rPr>
              <a:t>Рекомендуемый базовый вариант</a:t>
            </a:r>
          </a:p>
          <a:p xmlns:a="http://schemas.openxmlformats.org/drawingml/2006/main">
            <a:pPr algn="ctr">
              <a:defRPr sz="1425" b="1">
                <a:solidFill>
                  <a:srgbClr val="17845B"/>
                </a:solidFill>
              </a:defRPr>
            </a:pPr>
            <a:r>
              <a:rPr sz="1425" b="1">
                <a:solidFill>
                  <a:srgbClr val="17845B"/>
                </a:solidFill>
              </a:rPr>
              <a:t>до готовности данных и библиотеки визуалов</a:t>
            </a:r>
          </a:p>
        </p:txBody>
      </p:sp>
    </p:spTree>
    <p:extLst>
      <p:ext uri="{BB962C8B-B14F-4D97-AF65-F5344CB8AC3E}">
        <p14:creationId xmlns:p14="http://schemas.microsoft.com/office/powerpoint/2010/main" val="2590488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43" name="Rectangle 42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2" name="Rectangle 41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1" name="Rectangle 40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0" name="Rectangle 39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43BD294-6ACC-46D7-BF96-B13FF59D3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EA0E04-A295-4979-A1FF-3C50BC215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1239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ВАРИАНТ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E7E89A-905B-4E8B-834A-BA2E047CA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390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AI-анализатор контекста — отдельная платформа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514711-2DA4-4E04-9C9F-C6F84E45A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019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2CCCB3-A36D-4107-921E-A4C668A71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72009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4A3B8"/>
                </a:solidFill>
              </a:defRPr>
            </a:pPr>
            <a:r>
              <a:rPr sz="825" b="1">
                <a:solidFill>
                  <a:srgbClr val="94A3B8"/>
                </a:solidFill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544579-D44B-40CC-9CDD-2D83E9966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400300"/>
            <a:ext cx="1962150" cy="234315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293604-C99A-4BCD-A3EA-9CB70EB27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571750"/>
            <a:ext cx="400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D02F50-7B79-4BA9-8724-E42E30096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628900"/>
            <a:ext cx="209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EF3A91-8B6A-439A-B11C-5647778AE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0480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Вход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213324-AA49-45E8-A460-3E13AB3C1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448050"/>
            <a:ext cx="1619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Письма, PDF, JPEG, DWG, таблицы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23E360-2669-4484-87F1-0CED6987E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33750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8C0D73-8396-4A87-9A67-E99E1540B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00300"/>
            <a:ext cx="1962150" cy="234315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1EF799-EE62-4FDD-8F7C-B90430AA9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571750"/>
            <a:ext cx="400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47E810-F5D5-4BCB-BD16-613AA2FB4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628900"/>
            <a:ext cx="209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E470FE-A885-456A-8275-B1C411F8D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0480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Понимание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01E309-BAC2-49DF-8B37-8C2B1E9FA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448050"/>
            <a:ext cx="1619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OCR, структура, сущности, схемы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DDBC7A-8481-48E6-9C6D-2293B32B8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333750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E08303-C9FB-4562-B690-C7A9ADFE3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400300"/>
            <a:ext cx="1962150" cy="234315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D47B52-99C0-4F5C-8B02-3BE0F0B0D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571750"/>
            <a:ext cx="400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9D8C73-96BA-42F1-98AE-327DD565D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628900"/>
            <a:ext cx="209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6FD7DE-1051-45BB-9D61-FF1D3A41A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0480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Классификация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234816-56E8-458E-8138-6AC2EC1D8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448050"/>
            <a:ext cx="1619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Назначение + вероятность + пробелы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DE0A0A-63B1-4B36-A42A-4F7DF81B0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333750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5D43EB-ED70-444A-965D-59166B12B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400300"/>
            <a:ext cx="1962150" cy="234315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7590F5-7599-477A-8BDC-0A4C62181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71750"/>
            <a:ext cx="400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CAF738-D21A-4960-A588-FECBCED56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28900"/>
            <a:ext cx="209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80DACD-E93B-4B55-AA30-5569FB695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480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Генерация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DA1A3C-0778-4B43-BD0F-B9F4C21A2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48050"/>
            <a:ext cx="1619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Обложка, описание, состав решения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95FE19-333F-4E2F-A196-4EFC9F72E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333750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D209841-6DA0-4E84-A299-9DF4F81DA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400300"/>
            <a:ext cx="1962150" cy="234315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EAF8F2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6036E3A-AA98-43DC-9D79-82DD8CF73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571750"/>
            <a:ext cx="400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8F2"/>
          </a:solidFill>
          <a:ln xmlns:a="http://schemas.openxmlformats.org/drawingml/2006/main" w="9525">
            <a:solidFill>
              <a:srgbClr val="EAF8F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B68F5B8-57AD-4284-B19B-CA3F333F2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628900"/>
            <a:ext cx="209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845B"/>
                </a:solidFill>
              </a:defRPr>
            </a:pPr>
            <a:r>
              <a:rPr sz="900" b="1">
                <a:solidFill>
                  <a:srgbClr val="17845B"/>
                </a:solidFill>
              </a:rPr>
              <a:t>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36458FA-B4B2-4A52-B336-43A47D01D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0480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Контроль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D0B6763-BF05-4978-BEFA-389647162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448050"/>
            <a:ext cx="1619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Факты, бренды, уверенность, человек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6A53CEF-E289-4AD5-A452-2EE392D3E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105400"/>
            <a:ext cx="109728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9525">
            <a:solidFill>
              <a:srgbClr val="FFF0F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C8F8821-D5F1-47B6-A2C9-E94345EF3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2959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3C45"/>
                </a:solidFill>
              </a:defRPr>
            </a:pPr>
            <a:r>
              <a:rPr sz="1050" b="1">
                <a:solidFill>
                  <a:srgbClr val="B43C45"/>
                </a:solidFill>
              </a:rPr>
              <a:t>Необходимое правило безопасности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DDF691A-06DF-4FD4-B1EA-EBE640E8D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5816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Если данных недостаточно или уверенность ниже порога — система не «угадывает», а формирует список вопросов и отправляет заявку инженеру.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E76C86A-2912-45B0-9536-A6B4DC3CB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3817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3A68"/>
                </a:solidFill>
              </a:defRPr>
            </a:pPr>
            <a:r>
              <a:rPr sz="1500" b="1">
                <a:solidFill>
                  <a:srgbClr val="123A68"/>
                </a:solidFill>
              </a:rPr>
              <a:t>AI снижает ручную работу только там, где факты реально присутствуют в переписке и файлах.</a:t>
            </a:r>
          </a:p>
        </p:txBody>
      </p:sp>
    </p:spTree>
    <p:extLst>
      <p:ext uri="{BB962C8B-B14F-4D97-AF65-F5344CB8AC3E}">
        <p14:creationId xmlns:p14="http://schemas.microsoft.com/office/powerpoint/2010/main" val="203683773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44" name="Rectangle 43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3" name="Rectangle 42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2" name="Rectangle 41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1" name="Rectangle 40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50BFDF3-9ADD-4745-BF22-D4BDE09D9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6E73E4-4257-42E1-BB0A-086590CF7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1239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НЕСКОЛЬКО МОДЕЛЕЙ • ЕДИНАЯ ПРОВЕРЯЕМАЯ СХЕМА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D223D8-C1D2-4101-A613-A91C4CD7F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390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Архитектура AI-конвейера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8F4A0C-AA13-4FFD-BD4E-995AC41B3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019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2C2BC7-CAB8-40AC-937F-624F7ABCF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72009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4A3B8"/>
                </a:solidFill>
              </a:defRPr>
            </a:pPr>
            <a:r>
              <a:rPr sz="825" b="1">
                <a:solidFill>
                  <a:srgbClr val="94A3B8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95C1E0-A219-4A6E-9E13-8CCE05676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457450"/>
            <a:ext cx="23431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8EE836-B5F6-4F18-B5E4-D4EC6C1D3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6479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Приём данных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2F14FE-AECC-41AF-BFDF-EAE946EC2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0099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Почта • CRM • файлы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FE4EF6-D387-438D-BBA1-88E8F02D8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2892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D9C13E-A17D-499C-98A8-13A98FB36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457450"/>
            <a:ext cx="23431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2CB0EE-8354-4D65-B29E-14F75FA80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6479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Документы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F98675-8D19-4FD0-9D63-9C1DA4568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099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OCR • таблицы • layout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5B5388-23FB-45E5-BD22-AC3B1A6E0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2892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C570FE-9BFA-4FE9-9F82-4FB04F544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57450"/>
            <a:ext cx="23431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2E804B-E829-4D07-A62E-7787B0B61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6479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CAD / схемы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92AB11-F51B-4286-BECA-29D8F5B74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0099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DWG → DXF • слои • символы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2A8037-1C73-45E5-B971-AD9359BFA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82892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4AE9BA-3086-4766-A8CA-16627BBA6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57450"/>
            <a:ext cx="23431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0F8298-E91D-44E9-A439-24C30C9E0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6479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Нормализация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E94875-5212-479D-9150-1DDC062DD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0099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Единый JSON заявки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866274-64BB-4753-9CA9-D0D410500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19500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12BB6E-48FB-4389-833F-C59D544D7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71950"/>
            <a:ext cx="23431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B4BA4E-B013-4B2C-AE43-A4A23026D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624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A68"/>
                </a:solidFill>
              </a:defRPr>
            </a:pPr>
            <a:r>
              <a:rPr sz="1350" b="1">
                <a:solidFill>
                  <a:srgbClr val="123A68"/>
                </a:solidFill>
              </a:rPr>
              <a:t>Поиск фактов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D3A7A3-8C44-47A7-A511-87FF8DB0A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7244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RAG + каталог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487140-BD51-434B-A6FE-FA040EF8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54342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41ABC7-2673-4C3C-AE2B-F213F57F3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171950"/>
            <a:ext cx="23431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02582A-8693-49B5-9354-712363082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3624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A68"/>
                </a:solidFill>
              </a:defRPr>
            </a:pPr>
            <a:r>
              <a:rPr sz="1350" b="1">
                <a:solidFill>
                  <a:srgbClr val="123A68"/>
                </a:solidFill>
              </a:rPr>
              <a:t>Классификатор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2E853D-8F6C-4850-A8FF-A30C9E929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244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Веса + LLM/VLM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C4379D-7BA2-4DCD-B6AF-62F92AA36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4342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C451ED-F0E4-436C-8BA0-8EEFBE7A6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71950"/>
            <a:ext cx="23431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0AFBD9-D406-4AB5-A009-1DD2E497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3624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A68"/>
                </a:solidFill>
              </a:defRPr>
            </a:pPr>
            <a:r>
              <a:rPr sz="1350" b="1">
                <a:solidFill>
                  <a:srgbClr val="123A68"/>
                </a:solidFill>
              </a:rPr>
              <a:t>Генераторы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93C7953-3E40-4011-9AC8-263FC2E5C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7244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Текст + композиция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7FFCA8C-5758-4EDC-99CF-F8D8E02D6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54342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99C88AF-3665-43CB-B594-94D85D18A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171950"/>
            <a:ext cx="23431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AF8F2"/>
          </a:solidFill>
          <a:ln xmlns:a="http://schemas.openxmlformats.org/drawingml/2006/main" w="9525">
            <a:solidFill>
              <a:srgbClr val="EAF8F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AC8BD08-9300-42DC-9D59-E419506FB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3624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A68"/>
                </a:solidFill>
              </a:defRPr>
            </a:pPr>
            <a:r>
              <a:rPr sz="1350" b="1">
                <a:solidFill>
                  <a:srgbClr val="123A68"/>
                </a:solidFill>
              </a:rPr>
              <a:t>Верификатор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E4DAB54-AA11-4E91-9C02-BCD7B7FDD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7244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Пороги + человек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BD2E7B3-9086-452B-A300-FDEAC312B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715000"/>
            <a:ext cx="109728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123A68"/>
          </a:solidFill>
          <a:ln xmlns:a="http://schemas.openxmlformats.org/drawingml/2006/main" w="9525">
            <a:solidFill>
              <a:srgbClr val="123A6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7A57252-0662-4C25-8AD6-496FCA0D6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9055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DCBF4"/>
                </a:solidFill>
              </a:defRPr>
            </a:pPr>
            <a:r>
              <a:rPr sz="1050" b="1">
                <a:solidFill>
                  <a:srgbClr val="6DCBF4"/>
                </a:solidFill>
              </a:rPr>
              <a:t>Кандидаты технологий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9F20D90-EF85-4AFE-B718-C82DB3A1A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1912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PaddleOCR-VL / Docling  •  Qwen3-VL  •  BGE-M3  •  Grounding DINO  •  ODA + ezdxf  •  Qwen3  •  ComfyUI + FLUX/Qwen Image</a:t>
            </a:r>
          </a:p>
        </p:txBody>
      </p:sp>
    </p:spTree>
    <p:extLst>
      <p:ext uri="{BB962C8B-B14F-4D97-AF65-F5344CB8AC3E}">
        <p14:creationId xmlns:p14="http://schemas.microsoft.com/office/powerpoint/2010/main" val="63404560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48" name="Rectangle 47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7" name="Rectangle 46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6" name="Rectangle 45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5" name="Rectangle 44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9843F0E-9EEC-4213-A3B6-FF6598FF0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D153BA-85C3-4D30-8C6F-1BE110F71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1239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ВИЗУАЛЬНЫЙ КОНВЕЙЕР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35EA5F-3A3B-4C7C-BB2D-7A89952E3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390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Генерация обложки: оборудование должно оставаться настоящим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453CF0-E53D-470D-94F7-B0F9E2875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019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011A98-8CD9-47DD-8914-4EEEF1815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72009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4A3B8"/>
                </a:solidFill>
              </a:defRPr>
            </a:pPr>
            <a:r>
              <a:rPr sz="825" b="1">
                <a:solidFill>
                  <a:srgbClr val="94A3B8"/>
                </a:solidFill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C84884-4449-4E9D-B9CB-6261BBB58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43150"/>
            <a:ext cx="109728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9525">
            <a:solidFill>
              <a:srgbClr val="FFF0F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286955-148B-41A9-A37A-D98B417E6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5241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3C45"/>
                </a:solidFill>
              </a:defRPr>
            </a:pPr>
            <a:r>
              <a:rPr sz="1050" b="1">
                <a:solidFill>
                  <a:srgbClr val="B43C45"/>
                </a:solidFill>
              </a:rPr>
              <a:t>Нельзя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4125F0-2C2D-4E13-8085-EE639E676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76500"/>
            <a:ext cx="9582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Просить модель заново нарисовать оборудование: она меняет логотипы, кнопки, порты, пропорции и создаёт несуществующие изделия.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DD7A83-015A-4874-B7A3-AFF22A27A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57600"/>
            <a:ext cx="196215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846FCF-CE2B-486F-BF69-3E7A1CC4E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829050"/>
            <a:ext cx="361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1A1D24-887B-408E-A2C3-7DAFFCBE3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886200"/>
            <a:ext cx="171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3ABC08-8DA9-4D97-A16E-A7F88446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2672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Фото товара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905149-26A3-4363-B4AE-13C5E7AC3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5910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Оригинал из каталога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2B5704-F349-4CC0-BC32-8F28D44E6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14800"/>
            <a:ext cx="228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72D546-EFFE-4AEB-8A11-74D838DF3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657600"/>
            <a:ext cx="196215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0E8D3E-86FA-4767-A671-EA6EEA8DA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829050"/>
            <a:ext cx="361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55A702-0B33-450F-9504-19C695D12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886200"/>
            <a:ext cx="171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3E6F8B-4018-4E58-9F1C-A48583C26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2672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Маска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D1CFDE-97DB-41C0-AC9F-F0756F595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5910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Удаление фона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FCCFD6-557B-4C0A-A953-7D8886C08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114800"/>
            <a:ext cx="228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EA6A0F-CB99-44AA-AB8A-C88F61058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657600"/>
            <a:ext cx="196215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C72350-A6A7-4F93-982B-C876ACDF3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829050"/>
            <a:ext cx="361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DD9B1B-FB0E-46CF-9627-5456ACFD4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886200"/>
            <a:ext cx="171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803AC3-776B-43BA-A3E6-290EA264C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2672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Коллаж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AF6A66-64B8-408F-8647-7D248EE6C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5910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Шаблон + композиция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695C39-3DDA-4D00-8573-4D503B565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114800"/>
            <a:ext cx="228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F7FB4F-F8F5-4474-A416-C2B3DD09F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657600"/>
            <a:ext cx="196215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842B13-EC71-4FD9-A21A-5F2B466CD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829050"/>
            <a:ext cx="361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BD06CE-9950-4093-BD79-D0B98EED3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886200"/>
            <a:ext cx="171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8E7470-C226-405B-B496-AB5684B58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2672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AI-слой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CB533A1-C91E-47FB-B3CF-38696EDD5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5910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Фон, свет, тени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738A637-B1F4-40C1-B5EA-7FBD24CE3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114800"/>
            <a:ext cx="228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7CEB62D-2B7B-4631-B53E-84CCDA175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657600"/>
            <a:ext cx="196215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8F2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6E0581A-8938-4976-9157-FD5C390A0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829050"/>
            <a:ext cx="361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8F2"/>
          </a:solidFill>
          <a:ln xmlns:a="http://schemas.openxmlformats.org/drawingml/2006/main" w="9525">
            <a:solidFill>
              <a:srgbClr val="EAF8F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052A5EA-6FEF-459B-BE17-6547ACBBF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886200"/>
            <a:ext cx="171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845B"/>
                </a:solidFill>
              </a:defRPr>
            </a:pPr>
            <a:r>
              <a:rPr sz="900" b="1">
                <a:solidFill>
                  <a:srgbClr val="17845B"/>
                </a:solidFill>
              </a:rPr>
              <a:t>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76A6F3D-76FB-4A0A-A270-9EA11F775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2672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Финал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BA48D65-B668-4A70-A172-043F8277A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5910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Лого и текст поверх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4FD5EBA-18A3-4B83-BC97-53E497A9A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448300"/>
            <a:ext cx="5334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B4967DD-5EC6-47D5-A70C-9E97D8740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6578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A68"/>
                </a:solidFill>
              </a:defRPr>
            </a:pPr>
            <a:r>
              <a:rPr sz="1350" b="1">
                <a:solidFill>
                  <a:srgbClr val="123A68"/>
                </a:solidFill>
              </a:rPr>
              <a:t>Материалы для пилота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4B37307-1523-4C67-BB17-1546F372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007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34155"/>
                </a:solidFill>
              </a:defRPr>
            </a:pPr>
            <a:r>
              <a:rPr sz="1275" b="1">
                <a:solidFill>
                  <a:srgbClr val="334155"/>
                </a:solidFill>
              </a:rPr>
              <a:t>Фото каждого блока оборудования + не менее 100 эталонных готовых композиций.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0AD136E-A43C-4C9C-8AFC-42372CAF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48300"/>
            <a:ext cx="5334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2D26D50-ABFD-4B41-81E9-9F78EA39F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6578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Что обучаем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A6D9D39-0013-4311-B0B8-C7873A201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0007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34155"/>
                </a:solidFill>
              </a:defRPr>
            </a:pPr>
            <a:r>
              <a:rPr sz="1275" b="1">
                <a:solidFill>
                  <a:srgbClr val="334155"/>
                </a:solidFill>
              </a:rPr>
              <a:t>Несколько стилевых LoRA и правила композиции — не отдельную модель на каждую систему.</a:t>
            </a:r>
          </a:p>
        </p:txBody>
      </p:sp>
    </p:spTree>
    <p:extLst>
      <p:ext uri="{BB962C8B-B14F-4D97-AF65-F5344CB8AC3E}">
        <p14:creationId xmlns:p14="http://schemas.microsoft.com/office/powerpoint/2010/main" val="1523551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43" name="Rectangle 42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2" name="Rectangle 41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1" name="Rectangle 40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0" name="Rectangle 39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F07D1F7-F8EB-4131-BA1E-BFF7806E2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188EAC-7A3B-4A52-BDDB-EA3C7D68B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1239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ГЕНЕРАЦИЯ ТЕКСТА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DF6CA5-DF10-4952-9EAB-CF2CB76C2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390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Описание системы: факты из базы, смысл и стиль — от модели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A25D3F-ACF9-4638-923F-87B579C03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019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81CB16-E0DC-46EF-9BC7-EC761F27C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72009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4A3B8"/>
                </a:solidFill>
              </a:defRPr>
            </a:pPr>
            <a:r>
              <a:rPr sz="825" b="1">
                <a:solidFill>
                  <a:srgbClr val="94A3B8"/>
                </a:solidFill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6AD549-D24A-4BB5-994F-4894DEA82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419350"/>
            <a:ext cx="31432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00E08D-54F4-4497-BA13-127479B88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571750"/>
            <a:ext cx="2762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Каталог и БД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F6A7C8-FB9C-4DEA-B171-D2DA98EC4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857500"/>
            <a:ext cx="276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Характеристики, совместимость, бренды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F84B73-1885-4D0D-9867-166945B9C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86150"/>
            <a:ext cx="31432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012900-A97D-4307-8A08-E731EFFED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638550"/>
            <a:ext cx="2762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Заявка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C4357B-7A88-4D5F-A89D-B4DEFD314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924300"/>
            <a:ext cx="276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Назначение, ограничения, объект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605144-594A-4379-BD15-F16B8D1F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552950"/>
            <a:ext cx="31432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FFC624-B537-4575-AF2D-985CB791F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705350"/>
            <a:ext cx="2762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RAG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766B98-5E72-4862-A958-4FA57BF52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991100"/>
            <a:ext cx="276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Только найденные подтверждённые факты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E15A96-0165-42B5-AF1D-3EF413A78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0045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3D8DFF"/>
                </a:solidFill>
              </a:defRPr>
            </a:pPr>
            <a:r>
              <a:rPr sz="255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263173-AB68-4A8C-9891-310E713A9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705100"/>
            <a:ext cx="2857500" cy="26860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1A9DF6-60CC-4231-B4DE-60E3B2947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71800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23A68"/>
                </a:solidFill>
              </a:defRPr>
            </a:pPr>
            <a:r>
              <a:rPr sz="1575" b="1">
                <a:solidFill>
                  <a:srgbClr val="123A68"/>
                </a:solidFill>
              </a:rPr>
              <a:t>Языковая модель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0B55EA-B33A-44B9-81D4-8801FB306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543300"/>
            <a:ext cx="1981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FFDA27-E83E-4B4D-9092-966923276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600450"/>
            <a:ext cx="1790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СТРУКТУРА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AA25A5-236B-4CB3-A1ED-94A21D911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981450"/>
            <a:ext cx="1981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7482E9-16B1-4738-835C-7378CA43E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038600"/>
            <a:ext cx="1790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КОРПОРАТИВНЫЙ СТИЛЬ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7F71A9-3AE2-426E-98A5-4F5E73F30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419600"/>
            <a:ext cx="1981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095816-192E-481C-B7D8-D4D0772DB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476750"/>
            <a:ext cx="1790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3–5 ВАРИАНТОВ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422B63-5CCB-4DB4-A8AE-5C9872C7D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876800"/>
            <a:ext cx="2324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34155"/>
                </a:solidFill>
              </a:defRPr>
            </a:pPr>
            <a:r>
              <a:rPr sz="1050" b="1">
                <a:solidFill>
                  <a:srgbClr val="334155"/>
                </a:solidFill>
              </a:rPr>
              <a:t>LoRA учит манере письма.</a:t>
            </a:r>
          </a:p>
          <a:p xmlns:a="http://schemas.openxmlformats.org/drawingml/2006/main">
            <a:pPr algn="ctr">
              <a:defRPr sz="1050" b="1">
                <a:solidFill>
                  <a:srgbClr val="334155"/>
                </a:solidFill>
              </a:defRPr>
            </a:pPr>
            <a:r>
              <a:rPr sz="1050" b="1">
                <a:solidFill>
                  <a:srgbClr val="334155"/>
                </a:solidFill>
              </a:rPr>
              <a:t>Факты не «зашиваются» в LoRA.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B5B6D0-D29E-4B38-BE72-ABD821988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60045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3D8DFF"/>
                </a:solidFill>
              </a:defRPr>
            </a:pPr>
            <a:r>
              <a:rPr sz="255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674DF6-A162-4F94-A898-941DF1D98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19350"/>
            <a:ext cx="2914650" cy="32766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EAF8F2"/>
          </a:solidFill>
          <a:ln xmlns:a="http://schemas.openxmlformats.org/drawingml/2006/main" w="9525">
            <a:solidFill>
              <a:srgbClr val="EAF8F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FFCCD5-1AEC-4ABE-A3BA-E9EF1A792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647950"/>
            <a:ext cx="2457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845B"/>
                </a:solidFill>
              </a:defRPr>
            </a:pPr>
            <a:r>
              <a:rPr sz="1500" b="1">
                <a:solidFill>
                  <a:srgbClr val="17845B"/>
                </a:solidFill>
              </a:rPr>
              <a:t>Проверенный результат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02B09A-C63E-4EF1-8FF3-674756600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228975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27CA17-D8BE-407A-A5D4-4B47E4F77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181350"/>
            <a:ext cx="2209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Описание назначения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B926CB2-F2D0-4283-B9F3-6587F8765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438525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Без выдуманных характеристик.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D7E811D-2CE9-41C7-BD6F-76986660A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990975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243014-94B4-43C5-AFA5-CA14737CE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943350"/>
            <a:ext cx="2209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Состав решения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48FF2CF-27CA-43A1-B5A0-84A805609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200525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Ссылки на позиции и источники.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FA72576-BC89-4A08-8DBA-5803CD699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752975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3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9DED4C9-E62D-4371-9522-D4A44609A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705350"/>
            <a:ext cx="2209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Стоп-сигналы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F94D0CC-D284-417D-81CB-17E00C30A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962525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Недостающие данные и вопросы.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FFEE2CC-BAE7-4F17-BCB8-2EEB80AF7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153150"/>
            <a:ext cx="109728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23A68"/>
          </a:solidFill>
          <a:ln xmlns:a="http://schemas.openxmlformats.org/drawingml/2006/main" w="9525">
            <a:solidFill>
              <a:srgbClr val="123A6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564EA72-2C89-43DC-B3E0-C81E8E4ED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324600"/>
            <a:ext cx="1059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Данные обучения: 100–200 примеров — концепт; 500–1000 — стабильный стиль; тысячи — широкое покрытие сценариев.</a:t>
            </a:r>
          </a:p>
        </p:txBody>
      </p:sp>
    </p:spTree>
    <p:extLst>
      <p:ext uri="{BB962C8B-B14F-4D97-AF65-F5344CB8AC3E}">
        <p14:creationId xmlns:p14="http://schemas.microsoft.com/office/powerpoint/2010/main" val="38151229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43" name="Rectangle 42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2" name="Rectangle 41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1" name="Rectangle 40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0" name="Rectangle 39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08B2351-817F-403F-A609-1E203145F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E6BC39-986D-48B9-A188-DBA9D2A6E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1239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ОРГАНИЗАЦИОННАЯ МОДЕЛЬ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10CAA7-5EAE-439E-A81A-35D764763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390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Работа не исчезает — она переносится в данные и контроль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FF4F30-D587-4F4C-9805-B91A268E0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019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977D3C-D4D5-4883-9AF7-7D30C32E3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72009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4A3B8"/>
                </a:solidFill>
              </a:defRPr>
            </a:pPr>
            <a:r>
              <a:rPr sz="825" b="1">
                <a:solidFill>
                  <a:srgbClr val="94A3B8"/>
                </a:solidFill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5F523E-06AC-43B0-AF65-12A67C0D0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43150"/>
            <a:ext cx="33528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BEEFA2-879D-4E0D-89D8-824EC9292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514600"/>
            <a:ext cx="400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0CE789-1DA6-4749-8C42-DEBE1EE46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571750"/>
            <a:ext cx="209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23A68"/>
                </a:solidFill>
              </a:defRPr>
            </a:pPr>
            <a:r>
              <a:rPr sz="900" b="1">
                <a:solidFill>
                  <a:srgbClr val="123A68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77753F-29BC-43E4-B8B7-AFC725F38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5146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Владелец продукта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203593-1A7E-431E-8066-CC1FDF9F8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9337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Определяет сценарии, метрики и допустимый риск.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FE24B1-7B7E-4E41-B109-E78267EDF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343150"/>
            <a:ext cx="33528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776C18-DE82-4A7B-AA85-5734A354F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14600"/>
            <a:ext cx="400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0862A9-3247-4CA3-AC74-5B8A34F86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571750"/>
            <a:ext cx="209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F5EA90-FF4E-4924-A153-6664428E8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5146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Инженеры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DC8ABD-D3E5-4F3C-9B39-90797F235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9337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Утверждают таксономию, веса, правила и эталоны.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D55A6A-0103-47F1-9963-744778365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343150"/>
            <a:ext cx="33528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6BB281-79B2-4F16-BC29-44C5B5A8D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14600"/>
            <a:ext cx="400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A5B6CA-2C3D-4EE2-8D4E-BDE5C1B93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571750"/>
            <a:ext cx="209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6FFF93-2606-4C94-8B31-6112CD72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5146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Data / контент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8AB83F-6CC9-4C14-ABFD-333AE2746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9337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Размечает историю, изображения, модели и назначения.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B808F0-67DF-47C2-81D1-65265E3F9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43350"/>
            <a:ext cx="33528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A05B1C-2371-47EC-A2C8-7640B3FFA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114800"/>
            <a:ext cx="400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6F546C-2AB6-4BEA-81BC-32BC9EEBD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171950"/>
            <a:ext cx="209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998DD9-929B-4D7C-9235-DC365098A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1148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Дизайнеры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D3A3FD-8C23-4ED4-BB36-8ED8DBC03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5339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Создают эталонные композиции и визуальные правила.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20BC92-68C6-440E-AA94-D777FA5DC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943350"/>
            <a:ext cx="33528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5739B7-3019-4682-A89E-3F170BB66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114800"/>
            <a:ext cx="400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DF75DE-3D2A-4614-A519-53385DF83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171950"/>
            <a:ext cx="209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285078-E1A7-4C74-9861-CC89AA9C8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1148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ML / разработка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6033DC-C32C-4B92-9B72-800FC4319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5339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Строит конвейер, модели, мониторинг и интерфейсы.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3FC542-5728-483D-A1BF-9AA0160C4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943350"/>
            <a:ext cx="33528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380F0E1-B13C-4836-B645-6DF33142A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114800"/>
            <a:ext cx="400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8BD4530-0463-45ED-A4FC-30AF41B47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171950"/>
            <a:ext cx="209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AF85143-DF1C-4802-AB79-756290E6D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1148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Менеджеры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817ECA5-ED55-4CB9-8750-1B81DC4EC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5339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Исправляют ошибки и тем самым создают обратную связь.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835DE62-1F39-404B-8C62-BDCDAFC02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772150"/>
            <a:ext cx="109728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FFF4E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F26F249-1F7F-4E5D-85E2-6C83F3A28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9817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66512"/>
                </a:solidFill>
              </a:defRPr>
            </a:pPr>
            <a:r>
              <a:rPr sz="1050" b="1">
                <a:solidFill>
                  <a:srgbClr val="B66512"/>
                </a:solidFill>
              </a:rPr>
              <a:t>Скрытая стоимость проекта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0833C1E-A8DD-4123-899E-29B3CA5A5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9245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Разметка и поддержание справочников — постоянный бизнес-процесс. Без ответственных владельцев точность будет деградировать даже при хороших моделях.</a:t>
            </a:r>
          </a:p>
        </p:txBody>
      </p:sp>
    </p:spTree>
    <p:extLst>
      <p:ext uri="{BB962C8B-B14F-4D97-AF65-F5344CB8AC3E}">
        <p14:creationId xmlns:p14="http://schemas.microsoft.com/office/powerpoint/2010/main" val="98803362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33" name="Rectangle 32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2" name="Rectangle 31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1" name="Rectangle 30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0" name="Rectangle 29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5CEC2F-3A7C-4BA0-9721-4806214F8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AEF92D-E246-45CC-BE41-B5E05F28A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1239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МОДЕЛИ И ЖЕЛЕЗО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0FD259-DB22-4DBF-AB80-596EDF392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390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Инфраструктура: от пилота до производственного контура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8E8088-D5E6-41B3-9057-BC5AD3F3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019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3321E6-871B-4A9D-A5E2-EB04BC18D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72009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4A3B8"/>
                </a:solidFill>
              </a:defRPr>
            </a:pPr>
            <a:r>
              <a:rPr sz="825" b="1">
                <a:solidFill>
                  <a:srgbClr val="94A3B8"/>
                </a:solidFill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D14760-227A-43BD-8631-043D3AFE0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43150"/>
            <a:ext cx="3352800" cy="3390900"/>
          </a:xfrm>
          <a:prstGeom xmlns:a="http://schemas.openxmlformats.org/drawingml/2006/main" prst="roundRect">
            <a:avLst>
              <a:gd name="adj" fmla="val 3409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40B43C-C485-4A6C-813C-8A793FF9A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571750"/>
            <a:ext cx="1714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AA29B9-C108-4644-B933-4B624CA94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628900"/>
            <a:ext cx="1524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23A68"/>
                </a:solidFill>
              </a:defRPr>
            </a:pPr>
            <a:r>
              <a:rPr sz="900" b="1">
                <a:solidFill>
                  <a:srgbClr val="123A68"/>
                </a:solidFill>
              </a:rPr>
              <a:t>ПИЛОТ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6D2D94-2AEC-470F-A519-C64AA97B2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143250"/>
            <a:ext cx="2895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RTX 5090 • 32 GB VRAM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59F972-39C8-43F0-95ED-2A54C403C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771900"/>
            <a:ext cx="2895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128 GB RAM • 4 TB NVMe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16A405-F840-4DD4-8C4C-8E4881DA5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229100"/>
            <a:ext cx="289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49982C-CFF5-4DDE-98C3-A122D692F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476750"/>
            <a:ext cx="2895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OCR, embeddings, 8B VLM/LLM, LoRA и изображения — последовательно.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F0A8F4-3217-462F-99B3-5F48BBA5A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343150"/>
            <a:ext cx="3352800" cy="3390900"/>
          </a:xfrm>
          <a:prstGeom xmlns:a="http://schemas.openxmlformats.org/drawingml/2006/main" prst="roundRect">
            <a:avLst>
              <a:gd name="adj" fmla="val 3409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13C856-84C4-42B3-B043-03A7F4061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571750"/>
            <a:ext cx="1714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11AB41-9FB4-4175-B930-62600180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628900"/>
            <a:ext cx="1524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СЕРЬЁЗНАЯ СТАНЦИЯ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1EA257-15B0-46FD-AE3B-CA5287A51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143250"/>
            <a:ext cx="2895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RTX PRO 6000 • 96 GB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C88510-2565-42A9-8DB0-24CB44045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771900"/>
            <a:ext cx="2895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256 GB ECC RAM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304BD3-6792-4E8E-9100-AAA053637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229100"/>
            <a:ext cx="289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2330A4-F125-4201-A741-DD0D7803F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476750"/>
            <a:ext cx="2895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Крупнее модели, больше контекста, стабильная локальная эксплуатация.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0EC0DE-E9ED-4B6E-83D8-433B24D67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343150"/>
            <a:ext cx="3352800" cy="3390900"/>
          </a:xfrm>
          <a:prstGeom xmlns:a="http://schemas.openxmlformats.org/drawingml/2006/main" prst="roundRect">
            <a:avLst>
              <a:gd name="adj" fmla="val 3409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F19996-736D-4ED6-B171-AF7FA5E85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571750"/>
            <a:ext cx="1714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94A894-FF64-4CF3-85BE-2CA058E66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628900"/>
            <a:ext cx="1524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МАСШТАБ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A1F389-F73D-4467-8033-17F21865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43250"/>
            <a:ext cx="2895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2× RTX PRO 6000 • 192 GB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C886A1-4CCE-49DE-80EF-A8AF32358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771900"/>
            <a:ext cx="2895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512 GB RAM • Threadripper Pro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65EB7F-8189-46F7-A4C6-D5BBE906E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229100"/>
            <a:ext cx="289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AACADD-CEDE-4582-93AF-BCDCFEB9A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476750"/>
            <a:ext cx="2895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Параллельные сервисы, обучение и высокая пропускная способность.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7299B6-A719-4C4E-9B62-F322C4A7C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115050"/>
            <a:ext cx="109728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23A68"/>
          </a:solidFill>
          <a:ln xmlns:a="http://schemas.openxmlformats.org/drawingml/2006/main" w="9525">
            <a:solidFill>
              <a:srgbClr val="123A6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9239EA-5241-4968-A659-996F5734D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286500"/>
            <a:ext cx="1059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Для проверки идеи достаточно пилотной машины. Покупать масштаб до подтверждения качества классификации — преждевременно.</a:t>
            </a:r>
          </a:p>
        </p:txBody>
      </p:sp>
    </p:spTree>
    <p:extLst>
      <p:ext uri="{BB962C8B-B14F-4D97-AF65-F5344CB8AC3E}">
        <p14:creationId xmlns:p14="http://schemas.microsoft.com/office/powerpoint/2010/main" val="80312730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54" name="Rectangle 53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3" name="Rectangle 52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2" name="Rectangle 51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1" name="Rectangle 50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BE6BEAE-25B5-4F45-BE19-F9B2CA296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A18BC0-F121-416B-B19C-1C592D0F2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1239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ДОРОЖНАЯ КАРТА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9B7414-F950-496A-9C2C-96643C5DE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390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План внедрения: каждая стадия должна доказать ценность следующей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88E7F1-4A92-4754-B4D6-157CD825A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019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85EE52-BFC9-498B-87AA-D3227D44F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72009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4A3B8"/>
                </a:solidFill>
              </a:defRPr>
            </a:pPr>
            <a:r>
              <a:rPr sz="825" b="1">
                <a:solidFill>
                  <a:srgbClr val="94A3B8"/>
                </a:solidFill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FE8804-E9F9-45C0-9605-8EBC4814F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086100"/>
            <a:ext cx="9906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3F6A0F-D872-4B53-86A5-DF6710592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457450"/>
            <a:ext cx="1962150" cy="262890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727B11-AC7B-4B90-83B4-660CAF7CD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457450"/>
            <a:ext cx="19621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779EC2-507F-4E21-AA3F-3B4E7E1BB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667000"/>
            <a:ext cx="361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8F2"/>
          </a:solidFill>
          <a:ln xmlns:a="http://schemas.openxmlformats.org/drawingml/2006/main" w="9525">
            <a:solidFill>
              <a:srgbClr val="EAF8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1BDCDB-443D-4608-937F-A5D52D6FB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724150"/>
            <a:ext cx="171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845B"/>
                </a:solidFill>
              </a:defRPr>
            </a:pPr>
            <a:r>
              <a:rPr sz="900" b="1">
                <a:solidFill>
                  <a:srgbClr val="17845B"/>
                </a:solidFill>
              </a:rPr>
              <a:t>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31F1C8-4294-4B65-8B90-2176FDFE8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714625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Сейчас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B6CD60-D7C5-40EA-A837-ED60E99AB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29565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Статичная обложка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535C99-6068-4498-AFF0-02BC57EDA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8145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1–5 дней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A9C32F-8194-4121-B7BF-BE660EF7A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482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845B"/>
                </a:solidFill>
              </a:defRPr>
            </a:pPr>
            <a:r>
              <a:rPr sz="825" b="1">
                <a:solidFill>
                  <a:srgbClr val="17845B"/>
                </a:solidFill>
              </a:rPr>
              <a:t>ЗАПУСК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AABF61-3670-4CF1-A85B-CB460682E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57450"/>
            <a:ext cx="1962150" cy="262890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9DD436-6A3D-4885-9824-BA17F02EF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57450"/>
            <a:ext cx="19621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9147A3-F79A-4C32-B66C-5BDA2F564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667000"/>
            <a:ext cx="361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E374C6-71B5-4554-972A-A14B13966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724150"/>
            <a:ext cx="171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6358A7-71DE-466D-9C52-8885C4696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714625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0–1 мес.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EE1C74-69CC-44BA-8180-0A162B982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29565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Инвентаризация данных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A821C8-5FAB-44C0-8686-D7D14EF34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8145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Роли • таксономия • метрики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38E6E8-748C-42FE-9C09-A77193EC2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6482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D8DFF"/>
                </a:solidFill>
              </a:defRPr>
            </a:pPr>
            <a:r>
              <a:rPr sz="825" b="1">
                <a:solidFill>
                  <a:srgbClr val="3D8DFF"/>
                </a:solidFill>
              </a:rPr>
              <a:t>GATE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B0CC7C-11DE-432A-AB30-406EF2CD6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457450"/>
            <a:ext cx="1962150" cy="262890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C6BDC3-E5AE-445B-9EDD-A9D7EA3D7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457450"/>
            <a:ext cx="19621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783F3C-48D9-42A0-B330-CAE19B583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667000"/>
            <a:ext cx="361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F29B3E-DC6A-4D44-8470-E99A800A8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724150"/>
            <a:ext cx="171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2E0E9D-C088-4BCB-90DD-3741579E5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14625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1–3 мес.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516BCE-FE07-48FD-A067-3504865AE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29565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Весовой классификатор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AA93A6-F296-4E53-8F1C-7F3011D6E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98145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История • веса • offline-тест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70030F-6752-40A5-9B46-563C91400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6482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D8DFF"/>
                </a:solidFill>
              </a:defRPr>
            </a:pPr>
            <a:r>
              <a:rPr sz="825" b="1">
                <a:solidFill>
                  <a:srgbClr val="3D8DFF"/>
                </a:solidFill>
              </a:rPr>
              <a:t>GATE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A559E73-7E93-4642-A6A6-AD49AACD9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457450"/>
            <a:ext cx="1962150" cy="262890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CE7048-080A-4058-87BE-C67572DCA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457450"/>
            <a:ext cx="19621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A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2B4F0F2-BEAE-462B-8DC3-6151626A7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667000"/>
            <a:ext cx="361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9DF2CF9-CA15-42BA-BF86-816EDFE6E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24150"/>
            <a:ext cx="171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23A68"/>
                </a:solidFill>
              </a:defRPr>
            </a:pPr>
            <a:r>
              <a:rPr sz="900" b="1">
                <a:solidFill>
                  <a:srgbClr val="123A68"/>
                </a:solidFill>
              </a:rPr>
              <a:t>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0A1712C-CAD2-4C2D-8316-3887C6862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714625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3–5 мес.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535F60E-AD9D-47B5-A147-975F8D715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29565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AI-пилот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DE4C065-40F8-4220-8377-80FA8DCCE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98145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Почта • OCR • файлы • confidence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5E6DF16-5C66-47EB-9796-DEB794EA5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6482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23A68"/>
                </a:solidFill>
              </a:defRPr>
            </a:pPr>
            <a:r>
              <a:rPr sz="825" b="1">
                <a:solidFill>
                  <a:srgbClr val="123A68"/>
                </a:solidFill>
              </a:rPr>
              <a:t>GATE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D938C5A-F8A6-4A22-9988-423919592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457450"/>
            <a:ext cx="1962150" cy="262890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A99B957-023D-4227-8EB7-D52048F0F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457450"/>
            <a:ext cx="19621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A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3F6E0DD-8220-4CA1-8DB5-623125E07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667000"/>
            <a:ext cx="361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49F8176-5F1A-4111-A99E-CECB2FB24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724150"/>
            <a:ext cx="171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23A68"/>
                </a:solidFill>
              </a:defRPr>
            </a:pPr>
            <a:r>
              <a:rPr sz="900" b="1">
                <a:solidFill>
                  <a:srgbClr val="123A68"/>
                </a:solidFill>
              </a:rPr>
              <a:t>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89E68D9-6A40-41CC-9950-238C9DA8B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714625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5–9+ мес.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47127F5-9FDB-4C0B-8E2C-115923F52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29565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Контент и генерация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5CD4B2D-3B18-4A43-95AC-65333CF17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98145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100+ композиций • тексты • A/B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7067225-8672-4B97-B8E1-C36B277F4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6482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23A68"/>
                </a:solidFill>
              </a:defRPr>
            </a:pPr>
            <a:r>
              <a:rPr sz="825" b="1">
                <a:solidFill>
                  <a:srgbClr val="123A68"/>
                </a:solidFill>
              </a:rPr>
              <a:t>GATE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ACFF782-0E54-49CB-AA85-823E53BB8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524500"/>
            <a:ext cx="109728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9DA7420-E44F-4BE2-8DA8-4EF460437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7340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3A68"/>
                </a:solidFill>
              </a:defRPr>
            </a:pPr>
            <a:r>
              <a:rPr sz="1425" b="1">
                <a:solidFill>
                  <a:srgbClr val="123A68"/>
                </a:solidFill>
              </a:rPr>
              <a:t>Условия перехода к следующей стадии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5509FCD-0EC7-4268-8D9E-C80337759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1531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✓ Есть владелец данных   ✓ Согласована таксономия   ✓ Измерена точность   ✓ Определён порог ручной проверки   ✓ Подтверждена экономия времени</a:t>
            </a:r>
          </a:p>
        </p:txBody>
      </p:sp>
    </p:spTree>
    <p:extLst>
      <p:ext uri="{BB962C8B-B14F-4D97-AF65-F5344CB8AC3E}">
        <p14:creationId xmlns:p14="http://schemas.microsoft.com/office/powerpoint/2010/main" val="88439763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32" name="Rectangle 31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1" name="Rectangle 30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0" name="Rectangle 29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9" name="Rectangle 28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85DC93-9095-490A-B9AA-E8820DB60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987CAE-40A4-4A85-B673-C4BE7885D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1239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</a:defRPr>
            </a:pPr>
            <a:r>
              <a:rPr sz="900" b="1">
                <a:solidFill>
                  <a:srgbClr val="3D8DFF"/>
                </a:solidFill>
              </a:rPr>
              <a:t>РЕШЕНИЕ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443FA9-AADC-4582-A6AE-CC369A39E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3906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Что предлагается утвердить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A8BDEB-BA5A-4B9F-9556-D99E77E80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019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FF8EBE-1BA5-47C8-AC5E-BB5FD2D36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72009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4A3B8"/>
                </a:solidFill>
              </a:defRPr>
            </a:pPr>
            <a:r>
              <a:rPr sz="825" b="1">
                <a:solidFill>
                  <a:srgbClr val="94A3B8"/>
                </a:solidFill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1FA8DE-3CDC-46CE-9D52-860E62D9C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43150"/>
            <a:ext cx="7010400" cy="4038600"/>
          </a:xfrm>
          <a:prstGeom xmlns:a="http://schemas.openxmlformats.org/drawingml/2006/main" prst="roundRect">
            <a:avLst>
              <a:gd name="adj" fmla="val 2830"/>
            </a:avLst>
          </a:prstGeom>
          <a:solidFill xmlns:a="http://schemas.openxmlformats.org/drawingml/2006/main">
            <a:srgbClr val="123A68"/>
          </a:solidFill>
          <a:ln xmlns:a="http://schemas.openxmlformats.org/drawingml/2006/main" w="9525">
            <a:solidFill>
              <a:srgbClr val="123A6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E05AB8-24D8-4004-A707-18127384D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6098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CBF4"/>
                </a:solidFill>
              </a:defRPr>
            </a:pPr>
            <a:r>
              <a:rPr sz="975" b="1">
                <a:solidFill>
                  <a:srgbClr val="6DCBF4"/>
                </a:solidFill>
              </a:rPr>
              <a:t>РЕШЕНИЕ НА СЕЙЧАС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9132B0-BCF8-4A94-866E-01D163745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009900"/>
            <a:ext cx="6096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Запустить статичную обложку</a:t>
            </a:r>
          </a:p>
          <a:p xmlns:a="http://schemas.openxmlformats.org/drawingml/2006/main">
            <a:pPr algn="l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и подготовку данных для пилота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555035-BAFA-4276-AD82-9DFB383B8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210050"/>
            <a:ext cx="342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8F2"/>
          </a:solidFill>
          <a:ln xmlns:a="http://schemas.openxmlformats.org/drawingml/2006/main" w="9525">
            <a:solidFill>
              <a:srgbClr val="EAF8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AAAF00-EEFA-4465-AC18-3761D8CC7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267200"/>
            <a:ext cx="152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845B"/>
                </a:solidFill>
              </a:defRPr>
            </a:pPr>
            <a:r>
              <a:rPr sz="900" b="1">
                <a:solidFill>
                  <a:srgbClr val="17845B"/>
                </a:solidFill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0723E5-DD8C-4714-B586-DF37554ED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257675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Назначить владельца таксономии систем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3065EB-78AB-4777-9FE7-519E2353C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667250"/>
            <a:ext cx="342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8F2"/>
          </a:solidFill>
          <a:ln xmlns:a="http://schemas.openxmlformats.org/drawingml/2006/main" w="9525">
            <a:solidFill>
              <a:srgbClr val="EAF8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CFE603-F3A0-4BFB-8FFD-262CF07FB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724400"/>
            <a:ext cx="152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845B"/>
                </a:solidFill>
              </a:defRPr>
            </a:pPr>
            <a:r>
              <a:rPr sz="900" b="1">
                <a:solidFill>
                  <a:srgbClr val="17845B"/>
                </a:solidFill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61C1D9-D72F-4226-B881-ECB71E17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714875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Выделить исторические заявки и итоговые КП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1BF981-BC17-49AA-8530-2C8065C44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24450"/>
            <a:ext cx="342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8F2"/>
          </a:solidFill>
          <a:ln xmlns:a="http://schemas.openxmlformats.org/drawingml/2006/main" w="9525">
            <a:solidFill>
              <a:srgbClr val="EAF8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A8557E-6DE1-4206-9FF5-B12A3C8CA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181600"/>
            <a:ext cx="152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845B"/>
                </a:solidFill>
              </a:defRPr>
            </a:pPr>
            <a:r>
              <a:rPr sz="900" b="1">
                <a:solidFill>
                  <a:srgbClr val="17845B"/>
                </a:solidFill>
              </a:rPr>
              <a:t>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116797-ED44-4B5F-8341-ACA401D9A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172075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Согласовать метрики: точность, время, доля ручной проверки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46030B-5F02-41D7-ACC1-88EB2C647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581650"/>
            <a:ext cx="342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8F2"/>
          </a:solidFill>
          <a:ln xmlns:a="http://schemas.openxmlformats.org/drawingml/2006/main" w="9525">
            <a:solidFill>
              <a:srgbClr val="EAF8F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2CF6C1-BC66-4FCE-A464-E12CE6FD0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638800"/>
            <a:ext cx="152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845B"/>
                </a:solidFill>
              </a:defRPr>
            </a:pPr>
            <a:r>
              <a:rPr sz="900" b="1">
                <a:solidFill>
                  <a:srgbClr val="17845B"/>
                </a:solidFill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9E53C5-BFB5-4023-8EE4-5E1439CC6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629275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Не заказывать массовый дизайн до проверки классификации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58053F-C5E6-45A4-88DF-5D42D0D7A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343150"/>
            <a:ext cx="3657600" cy="186690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EAF8F2"/>
          </a:solidFill>
          <a:ln xmlns:a="http://schemas.openxmlformats.org/drawingml/2006/main" w="9525">
            <a:solidFill>
              <a:srgbClr val="EAF8F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D3A946-6ABE-4BD9-9EA8-3011275EA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717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845B"/>
                </a:solidFill>
              </a:defRPr>
            </a:pPr>
            <a:r>
              <a:rPr sz="1050" b="1">
                <a:solidFill>
                  <a:srgbClr val="17845B"/>
                </a:solidFill>
              </a:rPr>
              <a:t>Быстрый эффект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ACF69B-A99D-4C81-AA97-D1F893320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971800"/>
            <a:ext cx="314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Единый вид КП</a:t>
            </a:r>
          </a:p>
          <a:p xmlns:a="http://schemas.openxmlformats.org/drawingml/2006/main">
            <a:pPr algn="ctr"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без ошибок выбора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0D032C-B02E-4503-AE9B-2AB4C72BE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514850"/>
            <a:ext cx="3657600" cy="186690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EAF5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AC1F76-E485-4583-BA32-15587E765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7434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Стратегический эффект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1DD7DD-2A0A-4616-9D3B-3B6064942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14350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3A68"/>
                </a:solidFill>
              </a:defRPr>
            </a:pPr>
            <a:r>
              <a:rPr sz="1500" b="1">
                <a:solidFill>
                  <a:srgbClr val="123A68"/>
                </a:solidFill>
              </a:rPr>
              <a:t>Платформа, которая понимает заявку, объясняет решение и знает предел своей уверенности.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91FCBC-EB85-4686-A979-4626F3130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7246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Следующий шаг: 2-недельный аудит данных и дизайн пилота.</a:t>
            </a:r>
          </a:p>
        </p:txBody>
      </p:sp>
    </p:spTree>
    <p:extLst>
      <p:ext uri="{BB962C8B-B14F-4D97-AF65-F5344CB8AC3E}">
        <p14:creationId xmlns:p14="http://schemas.microsoft.com/office/powerpoint/2010/main" val="17467436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2026-08-28T13:13:52.0720000Z</dcterms:created>
  <dcterms:modified xsi:type="dcterms:W3CDTF">2026-08-28T13:13:52.0720000Z</dcterms:modified>
</coreProperties>
</file>