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5f59b1df8e4e17" /><Relationship Type="http://schemas.openxmlformats.org/officeDocument/2006/relationships/extended-properties" Target="/docProps/app.xml" Id="Ra156f48245cb465a" /><Relationship Type="http://schemas.openxmlformats.org/officeDocument/2006/relationships/officeDocument" Target="/ppt/presentation.xml" Id="Rc57837438bb845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040932bff2434b"/>
  </p:sldMasterIdLst>
  <p:notesMasterIdLst>
    <p:notesMasterId xmlns:r="http://schemas.openxmlformats.org/officeDocument/2006/relationships" r:id="R7e39c067390e4f5c"/>
  </p:notesMasterIdLst>
  <p:sldIdLst>
    <p:sldId xmlns:r="http://schemas.openxmlformats.org/officeDocument/2006/relationships" id="256" r:id="R8554683f06a345b1"/>
    <p:sldId xmlns:r="http://schemas.openxmlformats.org/officeDocument/2006/relationships" id="257" r:id="R76b64b27fa3d4a4d"/>
    <p:sldId xmlns:r="http://schemas.openxmlformats.org/officeDocument/2006/relationships" id="258" r:id="R56b91c3003374153"/>
    <p:sldId xmlns:r="http://schemas.openxmlformats.org/officeDocument/2006/relationships" id="259" r:id="R5f4b5d3671084ca2"/>
    <p:sldId xmlns:r="http://schemas.openxmlformats.org/officeDocument/2006/relationships" id="260" r:id="R719440d8245e4308"/>
    <p:sldId xmlns:r="http://schemas.openxmlformats.org/officeDocument/2006/relationships" id="261" r:id="R26d3a5a9c138461f"/>
    <p:sldId xmlns:r="http://schemas.openxmlformats.org/officeDocument/2006/relationships" id="262" r:id="R67fab21046e24482"/>
    <p:sldId xmlns:r="http://schemas.openxmlformats.org/officeDocument/2006/relationships" id="263" r:id="Re51ea7924f25494c"/>
    <p:sldId xmlns:r="http://schemas.openxmlformats.org/officeDocument/2006/relationships" id="264" r:id="Rcfc9a9c2ecfc47c5"/>
    <p:sldId xmlns:r="http://schemas.openxmlformats.org/officeDocument/2006/relationships" id="265" r:id="Rbc11dd98172744e6"/>
    <p:sldId xmlns:r="http://schemas.openxmlformats.org/officeDocument/2006/relationships" id="266" r:id="R1bf8db933d8845eb"/>
    <p:sldId xmlns:r="http://schemas.openxmlformats.org/officeDocument/2006/relationships" id="267" r:id="Rf760852f9cbe4615"/>
    <p:sldId xmlns:r="http://schemas.openxmlformats.org/officeDocument/2006/relationships" id="268" r:id="R792687bd4010458b"/>
    <p:sldId xmlns:r="http://schemas.openxmlformats.org/officeDocument/2006/relationships" id="269" r:id="R17f07eac849840b6"/>
    <p:sldId xmlns:r="http://schemas.openxmlformats.org/officeDocument/2006/relationships" id="270" r:id="R374c12dc64084d00"/>
    <p:sldId xmlns:r="http://schemas.openxmlformats.org/officeDocument/2006/relationships" id="271" r:id="R4f9c5ce2123d4e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66181e93094a1e" /><Relationship Type="http://schemas.openxmlformats.org/officeDocument/2006/relationships/slideMaster" Target="/ppt/slideMasters/slideMaster1.xml" Id="Red040932bff2434b" /><Relationship Type="http://schemas.openxmlformats.org/officeDocument/2006/relationships/notesMaster" Target="/ppt/notesMasters/notesMaster1.xml" Id="R7e39c067390e4f5c" /><Relationship Type="http://schemas.openxmlformats.org/officeDocument/2006/relationships/presProps" Target="/ppt/presProps.xml" Id="Rc4610bab13e145c4" /><Relationship Type="http://schemas.openxmlformats.org/officeDocument/2006/relationships/tableStyles" Target="/ppt/tableStyles.xml" Id="Rd7d4daa55af3497a" /><Relationship Type="http://schemas.openxmlformats.org/officeDocument/2006/relationships/slide" Target="/ppt/slides/slide1.xml" Id="R8554683f06a345b1" /><Relationship Type="http://schemas.openxmlformats.org/officeDocument/2006/relationships/slide" Target="/ppt/slides/slide2.xml" Id="R76b64b27fa3d4a4d" /><Relationship Type="http://schemas.openxmlformats.org/officeDocument/2006/relationships/slide" Target="/ppt/slides/slide3.xml" Id="R56b91c3003374153" /><Relationship Type="http://schemas.openxmlformats.org/officeDocument/2006/relationships/slide" Target="/ppt/slides/slide4.xml" Id="R5f4b5d3671084ca2" /><Relationship Type="http://schemas.openxmlformats.org/officeDocument/2006/relationships/slide" Target="/ppt/slides/slide5.xml" Id="R719440d8245e4308" /><Relationship Type="http://schemas.openxmlformats.org/officeDocument/2006/relationships/slide" Target="/ppt/slides/slide6.xml" Id="R26d3a5a9c138461f" /><Relationship Type="http://schemas.openxmlformats.org/officeDocument/2006/relationships/slide" Target="/ppt/slides/slide7.xml" Id="R67fab21046e24482" /><Relationship Type="http://schemas.openxmlformats.org/officeDocument/2006/relationships/slide" Target="/ppt/slides/slide8.xml" Id="Re51ea7924f25494c" /><Relationship Type="http://schemas.openxmlformats.org/officeDocument/2006/relationships/slide" Target="/ppt/slides/slide9.xml" Id="Rcfc9a9c2ecfc47c5" /><Relationship Type="http://schemas.openxmlformats.org/officeDocument/2006/relationships/slide" Target="/ppt/slides/slide10.xml" Id="Rbc11dd98172744e6" /><Relationship Type="http://schemas.openxmlformats.org/officeDocument/2006/relationships/slide" Target="/ppt/slides/slide11.xml" Id="R1bf8db933d8845eb" /><Relationship Type="http://schemas.openxmlformats.org/officeDocument/2006/relationships/slide" Target="/ppt/slides/slide12.xml" Id="Rf760852f9cbe4615" /><Relationship Type="http://schemas.openxmlformats.org/officeDocument/2006/relationships/slide" Target="/ppt/slides/slide13.xml" Id="R792687bd4010458b" /><Relationship Type="http://schemas.openxmlformats.org/officeDocument/2006/relationships/slide" Target="/ppt/slides/slide14.xml" Id="R17f07eac849840b6" /><Relationship Type="http://schemas.openxmlformats.org/officeDocument/2006/relationships/slide" Target="/ppt/slides/slide15.xml" Id="R374c12dc64084d00" /><Relationship Type="http://schemas.openxmlformats.org/officeDocument/2006/relationships/slide" Target="/ppt/slides/slide16.xml" Id="R4f9c5ce2123d4e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8e029cc7df42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39c9cb8823401a" /><Relationship Type="http://schemas.openxmlformats.org/officeDocument/2006/relationships/notesMaster" Target="/ppt/notesMasters/notesMaster1.xml" Id="Rc63f139a44e54a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ffff23b7474fcd" /><Relationship Type="http://schemas.openxmlformats.org/officeDocument/2006/relationships/notesMaster" Target="/ppt/notesMasters/notesMaster1.xml" Id="R942dda117e514b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2ac1dcb46b4ee1" /><Relationship Type="http://schemas.openxmlformats.org/officeDocument/2006/relationships/notesMaster" Target="/ppt/notesMasters/notesMaster1.xml" Id="R1cf920f12e4546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44a726f77f4e32" /><Relationship Type="http://schemas.openxmlformats.org/officeDocument/2006/relationships/notesMaster" Target="/ppt/notesMasters/notesMaster1.xml" Id="R1641796d109f46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c75d885580457c" /><Relationship Type="http://schemas.openxmlformats.org/officeDocument/2006/relationships/notesMaster" Target="/ppt/notesMasters/notesMaster1.xml" Id="Ra887ac96b5494a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015dcd1a44449" /><Relationship Type="http://schemas.openxmlformats.org/officeDocument/2006/relationships/notesMaster" Target="/ppt/notesMasters/notesMaster1.xml" Id="Rcd864a5e638949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bd45e0e4640c9" /><Relationship Type="http://schemas.openxmlformats.org/officeDocument/2006/relationships/notesMaster" Target="/ppt/notesMasters/notesMaster1.xml" Id="Rd6c7a6116b2945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6c4ee508164e6f" /><Relationship Type="http://schemas.openxmlformats.org/officeDocument/2006/relationships/notesMaster" Target="/ppt/notesMasters/notesMaster1.xml" Id="R90751da498c944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c546b958a747a6" /><Relationship Type="http://schemas.openxmlformats.org/officeDocument/2006/relationships/notesMaster" Target="/ppt/notesMasters/notesMaster1.xml" Id="R4c64c5fc638b4d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ec9e443f004c66" /><Relationship Type="http://schemas.openxmlformats.org/officeDocument/2006/relationships/notesMaster" Target="/ppt/notesMasters/notesMaster1.xml" Id="R63e5d0acaa9745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0303acce2840bf" /><Relationship Type="http://schemas.openxmlformats.org/officeDocument/2006/relationships/notesMaster" Target="/ppt/notesMasters/notesMaster1.xml" Id="R5b7c7895a77d45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384c3dec6f4fe5" /><Relationship Type="http://schemas.openxmlformats.org/officeDocument/2006/relationships/notesMaster" Target="/ppt/notesMasters/notesMaster1.xml" Id="R98bf3c6c5ea146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f69ad1c29149b4" /><Relationship Type="http://schemas.openxmlformats.org/officeDocument/2006/relationships/notesMaster" Target="/ppt/notesMasters/notesMaster1.xml" Id="R7106f114e70348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b1ccff0ed3457f" /><Relationship Type="http://schemas.openxmlformats.org/officeDocument/2006/relationships/notesMaster" Target="/ppt/notesMasters/notesMaster1.xml" Id="R179feebcaca345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2200830d7f4900" /><Relationship Type="http://schemas.openxmlformats.org/officeDocument/2006/relationships/notesMaster" Target="/ppt/notesMasters/notesMaster1.xml" Id="R816f375cf9e248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e1619cf6834dad" /><Relationship Type="http://schemas.openxmlformats.org/officeDocument/2006/relationships/notesMaster" Target="/ppt/notesMasters/notesMaster1.xml" Id="Rded034e99b12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- AI-generated visual, OpenAI ImageGen, 2026-08-28.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выборка типов заявок и файлов, предоставленная заказчиком.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выборка названий объектов, предоставленная заказчиком.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PaddleOCR-VL: https://www.paddleocr.ai/main/en/version3.x/algorithm/PaddleOCR-VL/PaddleOCR-VL-1.6.html</a:t>
            </a:r>
          </a:p>
          <a:p xmlns:a="http://schemas.openxmlformats.org/drawingml/2006/main">
            <a:r>
              <a:t>- Docling supported formats: https://docling-project.github.io/docling/usage/supported_formats/</a:t>
            </a:r>
          </a:p>
          <a:p xmlns:a="http://schemas.openxmlformats.org/drawingml/2006/main">
            <a:r>
              <a:t>- Qwen3-VL: https://github.com/QwenLM/Qwen3-VL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PaddleOCR-VL: https://www.paddleocr.ai/main/en/version3.x/algorithm/PaddleOCR-VL/PaddleOCR-VL-1.6.html</a:t>
            </a:r>
          </a:p>
          <a:p xmlns:a="http://schemas.openxmlformats.org/drawingml/2006/main">
            <a:r>
              <a:t>- DoclingDocument: https://docling-project.github.io/docling/concepts/docling_document/</a:t>
            </a:r>
          </a:p>
          <a:p xmlns:a="http://schemas.openxmlformats.org/drawingml/2006/main">
            <a:r>
              <a:t>- BGE-M3: https://github.com/FlagOpen/FlagEmbedding/blob/master/docs/source/bge/bge_m3.rst</a:t>
            </a:r>
          </a:p>
          <a:p xmlns:a="http://schemas.openxmlformats.org/drawingml/2006/main">
            <a:r>
              <a:t>- Grounding DINO: https://github.com/IDEA-Research/GroundingDINO</a:t>
            </a:r>
          </a:p>
          <a:p xmlns:a="http://schemas.openxmlformats.org/drawingml/2006/main">
            <a:r>
              <a:t>- ezdxf: https://ezdxf.readthedocs.io/_/downloads/en/master/pdf/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ComfyUI: https://github.com/Comfy-Org/ComfyUI</a:t>
            </a:r>
          </a:p>
          <a:p xmlns:a="http://schemas.openxmlformats.org/drawingml/2006/main">
            <a:r>
              <a:t>- FLUX.1 Kontext workflow: https://docs.comfy.org/tutorials/partner-nodes/black-forest-labs/flux-1-kontext</a:t>
            </a:r>
          </a:p>
          <a:p xmlns:a="http://schemas.openxmlformats.org/drawingml/2006/main">
            <a:r>
              <a:t>- Qwen Image Edit: https://qwenlm.github.io/blog/qwen-image-edit/</a:t>
            </a:r>
          </a:p>
          <a:p xmlns:a="http://schemas.openxmlformats.org/drawingml/2006/main">
            <a:r>
              <a:t>- Hugging Face Diffusers LoRA: https://huggingface.co/docs/diffusers/training/lora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Qwen3 training / LoRA: https://github.com/QwenLM/Qwen3/blob/main/docs/source/training/ms_swift.md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GeForce RTX 5090: https://marketplace.nvidia.com/en-us/consumer/graphics-cards/geforce-rtx-5090-founders-edition/</a:t>
            </a:r>
          </a:p>
          <a:p xmlns:a="http://schemas.openxmlformats.org/drawingml/2006/main">
            <a:r>
              <a:t>- NVIDIA RTX PRO 6000: https://www.nvidia.com/en-us/products/workstations/professional-desktop-gpus/rtx-pro-6000/</a:t>
            </a:r>
          </a:p>
          <a:p xmlns:a="http://schemas.openxmlformats.org/drawingml/2006/main">
            <a:r>
              <a:t>- AMD Threadripper PRO 9995WX: https://www.amd.com/en/products/processors/workstations/ryzen-threadripper/9000-wx-series/amd-ryzen-threadripper-pro-9995wx.html</a:t>
            </a:r>
          </a:p>
          <a:p xmlns:a="http://schemas.openxmlformats.org/drawingml/2006/main">
            <a:r>
              <a:t>- AI Toolkit FLUX LoRA FAQ: https://github.com/ostris/ai-toolkit/blob/main/FAQ.md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e7fe47bae4a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00257aa81542fb" /><Relationship Type="http://schemas.openxmlformats.org/officeDocument/2006/relationships/slideLayout" Target="/ppt/slideLayouts/slideLayout1.xml" Id="Rfa977d1d23844d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977d1d23844d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c7d9ad83648cd" /><Relationship Type="http://schemas.openxmlformats.org/officeDocument/2006/relationships/image" Target="/ppt/media/image.png" Id="R691c0c7fed234bf6" /><Relationship Type="http://schemas.openxmlformats.org/officeDocument/2006/relationships/notesSlide" Target="/ppt/notesSlides/notesSlide1.xml" Id="R817ae0961c8446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3d6ab89684f1d" /><Relationship Type="http://schemas.openxmlformats.org/officeDocument/2006/relationships/notesSlide" Target="/ppt/notesSlides/notesSlide2.xml" Id="Rd852773ccd064a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174d3692e4714" /><Relationship Type="http://schemas.openxmlformats.org/officeDocument/2006/relationships/notesSlide" Target="/ppt/notesSlides/notesSlide3.xml" Id="R57e2d6135ed7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766e9357f4f7c" /><Relationship Type="http://schemas.openxmlformats.org/officeDocument/2006/relationships/notesSlide" Target="/ppt/notesSlides/notesSlide4.xml" Id="Reeaa0df036fb40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35ccd9b2b4874" /><Relationship Type="http://schemas.openxmlformats.org/officeDocument/2006/relationships/notesSlide" Target="/ppt/notesSlides/notesSlide5.xml" Id="R10edb45aa4e24a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9d712040445e0" /><Relationship Type="http://schemas.openxmlformats.org/officeDocument/2006/relationships/notesSlide" Target="/ppt/notesSlides/notesSlide6.xml" Id="Rc69bc8ab15d146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63872d8ac4405" /><Relationship Type="http://schemas.openxmlformats.org/officeDocument/2006/relationships/notesSlide" Target="/ppt/notesSlides/notesSlide7.xml" Id="R0a782e3cf09e4e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9ffceb97d4fce" /><Relationship Type="http://schemas.openxmlformats.org/officeDocument/2006/relationships/notesSlide" Target="/ppt/notesSlides/notesSlide8.xml" Id="R5acf8bfa6d1549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f95b7c6a44174" /><Relationship Type="http://schemas.openxmlformats.org/officeDocument/2006/relationships/notesSlide" Target="/ppt/notesSlides/notesSlide9.xml" Id="R66788795b6364e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bfb2088114b3f" /><Relationship Type="http://schemas.openxmlformats.org/officeDocument/2006/relationships/notesSlide" Target="/ppt/notesSlides/notesSlide10.xml" Id="R33ac0a99131244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9bb2ab0a644e1" /><Relationship Type="http://schemas.openxmlformats.org/officeDocument/2006/relationships/notesSlide" Target="/ppt/notesSlides/notesSlide11.xml" Id="R0a8fc3b0cfce47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86579d5934adc" /><Relationship Type="http://schemas.openxmlformats.org/officeDocument/2006/relationships/notesSlide" Target="/ppt/notesSlides/notesSlide12.xml" Id="R41852c5609b849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8a3fbe5854afc" /><Relationship Type="http://schemas.openxmlformats.org/officeDocument/2006/relationships/notesSlide" Target="/ppt/notesSlides/notesSlide13.xml" Id="R414e57e6c7644f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4003c84104690" /><Relationship Type="http://schemas.openxmlformats.org/officeDocument/2006/relationships/notesSlide" Target="/ppt/notesSlides/notesSlide14.xml" Id="R273bd991de7c45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e8baac094477c" /><Relationship Type="http://schemas.openxmlformats.org/officeDocument/2006/relationships/notesSlide" Target="/ppt/notesSlides/notesSlide15.xml" Id="Rf8786714739c4f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4a578ee62482e" /><Relationship Type="http://schemas.openxmlformats.org/officeDocument/2006/relationships/notesSlide" Target="/ppt/notesSlides/notesSlide16.xml" Id="Ra0d4d528d89741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c0c7fed234b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60A3F-77AE-4AE6-97A9-FAE84F87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1FF9A-F59D-4CD8-BF0E-8B1BB5C4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EB003-196B-455D-8248-9CB5D1B2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90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609F1-4434-4A16-8E0A-16005E2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СТРАТЕГИЯ •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8A322-3054-462A-8964-14EE57C9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4810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Автоматизация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обложек и описаний КП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054EB-83D0-4D4D-A94C-D11F0DB2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Четыре варианта решения и поэтапный план внедрения AI в рабочий процесс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8B6E-8B76-44E5-A4DB-7CBA56D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A2673-FF5E-4BB2-8F63-63F0C286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Главный принцип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17C4E-0D46-46FD-B2D7-8835C2F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Сначала данные и контроль качества.</a:t>
            </a:r>
          </a:p>
          <a:p xmlns:a="http://schemas.openxmlformats.org/drawingml/2006/main">
            <a:pPr algn="l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Потом — автоматизация решений.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26EAA-55BE-4740-A574-F18CDAA7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Рабочая концепция для обсуждения</a:t>
            </a:r>
          </a:p>
        </p:txBody>
      </p:sp>
    </p:spTree>
    <p:extLst>
      <p:ext uri="{BB962C8B-B14F-4D97-AF65-F5344CB8AC3E}">
        <p14:creationId xmlns:p14="http://schemas.microsoft.com/office/powerpoint/2010/main" val="165044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D5810-157B-4092-AC0A-BA34E10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32FA0-AB2F-49C7-BFBF-63093F4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КОРОТКИЙ ВЫВОД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FF5BE-2FBF-4848-8D03-41B6490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Рекомендация: идти ступенями, а не прыгать сразу в «полный AI»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988BB-8266-4AB9-BBA4-3BCD6DE1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B1A7A-9D02-417F-9171-16229B49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859D9-18BB-4E26-8FA6-4808A385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0F684-C40F-406F-89FE-B53BA81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Надёжная автоматизация возможна только после появления таксономии систем, библиотеки изображений, карточек оборудования и размеченных примеров.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BA4D4-0F23-4232-938F-A8275AF8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40232-C3C8-416E-8CA0-EAFD23F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7BD6C-9324-4BD6-81E6-C15D2E0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C76CA-B6ED-4C45-9C6A-F1ABD5A5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83823-0593-4DA8-B0FB-87579CA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Статичная универсальная обложка — без ошибок и ожидания дизайнеров.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C4F9F-69BA-47FA-88A5-005D7F24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5CD79-0DD9-4FB7-A717-CE325912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9545F-AF85-42AC-841F-886F2DE1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EC37A-C6C0-4E1C-B8CC-288AF1E9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Параллельно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1C1B2-C65A-45DF-B382-31DA9D5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Собрать источники, роли, словарь назначений и эталонные КП.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B00E4-BD06-44D8-8CB0-56B81247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1FAB5-2FF9-44D9-9683-DAFA77B3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0D8A0-7FA0-42F3-A5AB-EAE32C9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BD4B-12B4-4849-BB5E-B678A18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После данных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38027-2D1A-422D-8480-F19F1F68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Запустить весовой классификатор и измерить точность на истории.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73456E-3176-42AA-806D-D39144E2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8FC2E-511D-461E-A0E9-B7CE2269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C448B-A21B-48F9-9855-94BFF0A2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99A1B-7CEE-42E8-B753-8C7AC431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Затем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2C107-2E26-4A30-9747-531A301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43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Подключить AI-анализ писем и файлов, генерацию текста и обложек.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0D634-38D7-4023-9398-9258E54E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Так мы получаем пользу сразу и не превращаем проект в шестимесячное ожидание ресурсов.</a:t>
            </a:r>
          </a:p>
        </p:txBody>
      </p:sp>
    </p:spTree>
    <p:extLst>
      <p:ext uri="{BB962C8B-B14F-4D97-AF65-F5344CB8AC3E}">
        <p14:creationId xmlns:p14="http://schemas.microsoft.com/office/powerpoint/2010/main" val="1474013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260ED-4CE9-4966-BCA4-501EDCC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DC4C9-A9E5-4B62-A11F-9E1D0DB5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ПОЧЕМУ ЗАДАЧА СЛОЖНЕЕ, ЧЕМ ВЫБОР КАРТИНКИ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9F30F-3214-4D61-9F90-DD9C8CD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Исходные данные не образуют единого технического задания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0DD35-CC40-4497-94B0-BB412145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BED11-2BFA-418E-921F-0A0249A8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9F7A5-B741-4B6D-8C8E-4DA132D8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457A-6167-43FE-B26B-E902669C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A5F6C-F580-44CE-B879-4BF050E8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276CF-CC78-474A-BB62-5DBCA01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«Дайте подбор!»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8AA29-D85C-44EA-964A-1F097F2E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Одно предложение без назначения, состава и ограничений.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5C608-0938-4A12-A723-BF066ED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E299F-F1FB-4377-80E2-EA4AB567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E203F-6AF2-40AA-8487-70B4CBC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D6911-88CD-47F1-BCD9-83E8D529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71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«Подберите замену»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106EA-1C63-4878-87CC-C6D3F73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336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Спецификация может быть текстом, сканом или картинкой — иногда без количества.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49AAA-1CF3-4AC5-886F-01559928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2E5FD-5F46-4C0D-B099-2AA9F325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0A97E-7470-4D16-B6CC-F4E66179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F050A-0076-47EB-9CA2-D66AC12A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Чертёж с расстановкой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FA074-9C33-46BE-9A9E-E94B79E8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PDF, JPEG или DWG; обозначения, слои и качество отличаются.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03E13-B917-450E-8DD7-24FF4781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8F40E-DD40-44D8-B556-1768618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5F8CC-B399-4C42-8952-E41C299E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2922E-80C0-4025-BEFA-0C327FA2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Голая спецификация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4E97A-4A0C-4441-B87C-7A076B9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Перечень позиций ещё не объясняет сценарий использования системы.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E204C-20BC-4786-BA3E-65E2C89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FCB98-E9BD-454E-A98B-B689D8D6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6512"/>
                </a:solidFill>
              </a:defRPr>
            </a:pPr>
            <a:r>
              <a:rPr sz="975" b="1">
                <a:solidFill>
                  <a:srgbClr val="B66512"/>
                </a:solidFill>
              </a:rPr>
              <a:t>Ключевое ограничение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55E2A-E7E1-40E5-865B-121533D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81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AI может извлечь и сопоставить присутствующие факты, но не может восстановить отсутствующие требования без риска выдумать их.</a:t>
            </a:r>
          </a:p>
        </p:txBody>
      </p:sp>
    </p:spTree>
    <p:extLst>
      <p:ext uri="{BB962C8B-B14F-4D97-AF65-F5344CB8AC3E}">
        <p14:creationId xmlns:p14="http://schemas.microsoft.com/office/powerpoint/2010/main" val="1850161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DCDBD-2DC3-4BDA-B697-36061E3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9C4EA-5EA6-4DA3-A1DA-397141EE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КЛАССИФИКАЦИЯ НАЗНАЧЕНИЯ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66D9D-1787-48AC-8151-D42AFB8B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Название объекта отвечает на вопрос «где», но не «что строим»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31504-B5B6-4843-9652-9881F1A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9D064-BBC7-4990-8E6C-1B91F281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11F0C-A006-4068-9E0C-BCC068DD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340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66EB2-D518-45CF-BCE7-F6CD115D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Примеры поля «Объект»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2CEEB-6663-4826-B9B2-014A230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A7FCA-DCC5-4893-B636-E3A2129B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Стоматологическая поликлиника №2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BF5E8-9DD5-4560-84AE-A023F71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339F5-0F1B-4318-B2D8-8919F636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Корякская окружная больница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DA7BA-2C6F-426A-BA94-D6E3CB2C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DC05D-A65C-4EEF-8DBA-9CD0C586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Административно-бытовой комплекс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ACEB8-25FA-4582-AE9C-81F60BB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F57E5-1D04-4854-971D-163CC382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Фабрика по переработке углей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B6943-25B6-40AA-A5D9-EA5882B1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08E19-C037-4A4D-BEA7-8D909EBA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Капитальный ремонт общежития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87DC3-7B9D-445B-8ABA-BAAABD64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Один и тот же объект может требовать СОУЭ, трансляцию, конференц-связь, фоновую музыку или несколько систем одновременно.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F0B17-325A-4236-BBB3-78FCBBDF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E1E40-26D7-41F1-BB44-2EBE4DB2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81150"/>
            <a:ext cx="45720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0AA29-5EA5-4004-AC29-6C6552FF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478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Назначение системы определяется сочетанием: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4A05F-96ED-4E28-87E3-0ACC18F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812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2A479-5750-4B74-AC3E-7AC4BB19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Состава оборудования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DC7AE-ACB0-424D-8931-A9CF29C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908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Модели, категории, количества, бренды и совместимость.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A5379-C29C-4281-BD5D-CC47D6F0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6232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DC07C-05D0-4B30-91C6-0B721BB5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1470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Контекста заявки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BF737-41CA-448D-A0B9-20C48AB7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718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Формулировки в письмах, ТЗ, схемах, примечаниях.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50059-D390-4F9F-82DD-8A498641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433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18BB1-44D0-487E-9B41-3DE8FDC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Инженерных признаков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4A663B-DA83-4553-B8F9-B027D8FF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529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Топология, зоны, каналы, мощность, резервирование.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63300-1CC9-4381-979B-B2019764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67350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E83FE-E135-4529-9FCB-07062E4B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619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Поле «Объект» — лишь слабый дополнительный сигнал</a:t>
            </a:r>
          </a:p>
        </p:txBody>
      </p:sp>
    </p:spTree>
    <p:extLst>
      <p:ext uri="{BB962C8B-B14F-4D97-AF65-F5344CB8AC3E}">
        <p14:creationId xmlns:p14="http://schemas.microsoft.com/office/powerpoint/2010/main" val="1884912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F7EABAE-017A-47BE-ADC6-D6200A9F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D0D9A-16D8-4F06-B59A-D708D6D6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КАРТА 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DAEC6-64DA-45D8-98C7-F7BD5A1D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Четыре варианта — от мгновенного компромисса до AI-платформы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A6D9D-3A55-4DE3-BA73-59FB254A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BEE6F-5697-44D5-BDFA-19069B6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76141-9242-431E-993E-37F06841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533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0C4A5-C25A-4AF4-B0D3-D9917EBB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Вариант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753E2-B3BB-46CA-8D81-68781C69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D98ED-A36A-491F-91A8-D439A9A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Запуск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19087-DDF7-4BE2-BEC5-8CC0784D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43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03136-5453-4E99-B787-2CC63E04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66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Автоматизация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0DD05-AEEA-4388-A213-F9B4D2BD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43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1E611-EA8D-4108-BA75-5376BB33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Точность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11F5F-9453-48EA-8884-462D2979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43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84C21-0EF3-4349-A434-95599123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Зависимость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ED042-14FD-4962-BB70-BF70A406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4305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9D7CE-8295-4DA5-A6FE-AF2A43A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6687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Вывод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CFE32-2AAA-40B4-AC9C-0CDAC46B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436A5-F350-43B7-9190-5960253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698D1-DE4E-456F-8A5F-9D0988E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1. Ручной выбор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78F17-1D94-42A0-BD98-41624810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BD6A5-ECC9-4A0C-B448-2A66C797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CD5DF-2B0D-439F-95CD-7AA8C795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62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6+ мес.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77F78-9C08-4934-956E-2456292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E73856-A19C-45CC-A9DB-D01C998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3A653-46E9-4126-B15C-AE64B0F4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62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Низкая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4AC33-FBBA-4A75-A50B-CB3F3E1A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27AD0-EC81-4114-937B-A9841857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B0073-04C9-456B-BA7C-FA038BF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62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Высокая*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B5865-0B35-4E63-8C58-3A80437A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0EE84A-54ED-41FF-9BEB-CFD3C8B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7746EB-56E2-4B77-9C0C-6F0027F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Дизайнеры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D97A5F-60BF-43FE-BAC3-4AB0F6CB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F0D6D8-ED87-4DB1-ACFC-F3A50657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5736D0-8479-4E84-832A-E673F52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6217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Понятно, но долго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D33AD5-0BF9-4667-A880-1A047652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0068E8-A5E8-455F-903F-E6FC2B4D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B0254C-CA62-4F8D-9389-CB54963D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2. Веса + библиотека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C71F5A-FD93-46A5-BA5F-436658B7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C77C8B-B606-4FEB-B222-42DB5A2A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21775D-93CA-424C-BC50-994D2EF9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05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2 + 6 мес.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219880-1D82-4636-B44A-20A5859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52D763-2091-441A-BB8C-C5F809D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57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68FCCD-E592-4513-8734-00C2E10B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05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Средняя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888294-0B3F-46CD-8CF4-DC18A65E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432B26-11AA-4B4E-9867-76A4B414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F3734E-1F87-402F-B041-99F7E9D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Низкая–средняя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7E20E3-3680-4AF8-9B25-E2FBAE18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7F0762-136D-4211-9D38-D45FC63D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7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746730-7B79-4519-A26B-EAF2086C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Данные + дизайн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20599D-6A40-401C-A0A5-2888F49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8F7022-9CCF-4FBA-AEF0-3430A4C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5757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B4E635-F9A0-40E1-96AD-EDFAB9A3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Проверяемая база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7DD32-7BD0-4ABD-B28D-D5D2B06C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01F741-5D45-4EC4-890F-358838B2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369868-316B-47BB-A228-15976B8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3. Статичная обложка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DFAA26-C52D-4E0E-9D54-A5816014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88F23E-BBEC-4CEE-A238-4BCB4B31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00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8E8308-E752-4E1F-B6BA-FE1BC91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48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Сразу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035C85-2246-4C34-92E3-2A5BB681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67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08646E-6A3A-49B8-9129-82E1E68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1EAFB1-236B-4614-A10A-608E68EE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48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Нет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5C9015-0FA7-448F-AAA0-CCC23379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D9846F-9680-457D-BD8F-482DF00F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00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9729E9-3876-4AA0-B598-4D840FA7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48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Стабильная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9B564D-8670-4567-B62A-315AB998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5DA906-BF5A-4906-87DC-A52583F0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0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B1AED9-FED8-4CBB-9EA4-361C8C39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Нет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E0FAA5-007B-4270-BDC1-87AA815B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671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4DC75D-E05F-48F5-B592-F90E5644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9A900C-A878-457F-8ED1-20B46A89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4807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845B"/>
                </a:solidFill>
              </a:defRPr>
            </a:pPr>
            <a:r>
              <a:rPr sz="1050" b="1">
                <a:solidFill>
                  <a:srgbClr val="17845B"/>
                </a:solidFill>
              </a:rPr>
              <a:t>Лучший быстрый шаг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705B3F-8909-4868-97FB-A11BB16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CFE22F3-D3C9-4827-877F-ED963D9E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0C64E2-0C39-41A8-968B-9CBB6C6C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910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4. AI-анализатор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4FAC65-8938-4326-BF9B-72436E5B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0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EC842FE-6C78-4D54-8765-FA23DC84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43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2404E3-4FDF-41E7-B2EB-78C19106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91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После 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5F00A3-628F-4DA7-8419-CEDAFADA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93D8410-49B6-46EE-9B8C-A5F5BEEF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43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BBC4E9-69B7-48C4-98BE-F4F15FA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91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Высокая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A38028-8474-4622-860A-788D6D4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FCFC83-7D8E-42D9-A8C2-90DB7237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43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495488-44AD-424A-9481-4F1A9886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Растёт с данными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BA5C52-32A2-4D7F-9C29-D4797985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D539AD-50E2-4B82-A840-CB249433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43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E991C5-1C78-4D67-8D47-29174C1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ML + разметка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E918E66-C845-484C-9CF6-652F608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D9D83A-C9CE-496A-B787-948AEC0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4347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F3E0F8-557B-48B2-96B2-65AE8A04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Стратегическая цель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AA8888A-A68C-45C7-A158-1CA1632E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* При наличии готовой и правильно выбранной менеджером иллюстрации.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B74FB98-FB22-4061-98EB-62DE5147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11E6D45-EDB1-40B3-8EC8-3C030B3C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2452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Вариант 3 закрывает сегодняшний риск. Вариант 4 — отдельная программа цифровизации, а не «ещё одна функция PDF».</a:t>
            </a:r>
          </a:p>
        </p:txBody>
      </p:sp>
    </p:spTree>
    <p:extLst>
      <p:ext uri="{BB962C8B-B14F-4D97-AF65-F5344CB8AC3E}">
        <p14:creationId xmlns:p14="http://schemas.microsoft.com/office/powerpoint/2010/main" val="8269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5634D9-5B31-47E6-92FA-9D1BE68A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AA970-73FA-45FD-A041-C386A9E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РУЧНОЙ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2C729-B35A-4DBD-86A1-2C2D2C1F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Вариант 1. Дизайнерская библиотека + ручной выбор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040C0-6673-439C-9CD2-5B0D107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3891A-B082-47F7-AAB0-B2DB96FC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FC3E6-127C-47B3-BFA5-8BD57CB1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DA7B4-CB02-4FD4-91E9-A408F753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ДИЗАЙНЕРЫ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6B348-DADC-4B6D-9F9B-31D21EEC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62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8B46C-A9A4-40C7-AA65-D81DDDC6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0538F-A779-4135-92D3-67312B85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57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БИБЛИОТЕКА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BE63E-84FE-486A-BFE7-E6EBAD35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62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B6BF5-1FCB-4633-A54E-05A1C583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00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36DCA-5144-45B4-BC7E-1E8988B2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57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МЕНЕДЖЕР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41476-10E1-41D6-A61C-21ABB15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62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EFC69-2780-4A98-A2B8-031F1186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02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01CA2-7B26-4447-A2DD-34762E42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95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КП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13972-0874-4424-B54F-A5DA22FB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578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10F63-7740-4E66-8504-83AFF9C5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Что потребуется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45091-9D17-4839-9C39-4837E5E2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D7D80-D426-435F-8416-1065C7F6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Набор обложек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AC810-7DE5-466C-9C3D-F03DC3D2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86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По брендам, назначениям и композициям.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7B7DC-C1B9-464D-B7D6-422FF303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925EF-47B9-4640-8989-C56E189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Каталог с превью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3FB88-B903-4A71-BE13-9B69C546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Понятные имена, фильтры и правила использования.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497EB-4ED9-46BB-8EC1-44F38E31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96FB6-179E-4654-9CCE-BEFCD1A7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Время менеджера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E4C8E-77D9-404F-97D2-77BED06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Каждое КП требует осознанного ручного выбора.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15BD1-62DB-4954-B680-57BDBE2A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54102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FD2844-F778-4B1B-B835-8C661F05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C45"/>
                </a:solidFill>
              </a:defRPr>
            </a:pPr>
            <a:r>
              <a:rPr sz="1500" b="1">
                <a:solidFill>
                  <a:srgbClr val="B43C45"/>
                </a:solidFill>
              </a:rPr>
              <a:t>Ограничение ресурса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506CE-D699-43FE-80BA-9758E306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3C45"/>
                </a:solidFill>
              </a:defRPr>
            </a:pPr>
            <a:r>
              <a:rPr sz="2400" b="1">
                <a:solidFill>
                  <a:srgbClr val="B43C45"/>
                </a:solidFill>
              </a:rPr>
              <a:t>≈ 6+ месяцев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E83A02-AA7C-4D1C-B090-3D688354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ожидание доступности дизайнеров и выпуска библиотеки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97744A-88C7-4CBA-80DB-20619160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Сценарий не зависит от качества AI, но полностью зависит от наличия визуалов и дисциплины выбора.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637DF4-D0CA-4364-A2EE-F8E1C68F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514527-4DE7-45DF-A7C4-4A270A9D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6512"/>
                </a:solidFill>
              </a:defRPr>
            </a:pPr>
            <a:r>
              <a:rPr sz="1350" b="1">
                <a:solidFill>
                  <a:srgbClr val="B66512"/>
                </a:solidFill>
              </a:rPr>
              <a:t>Подходит как контролируемый ручной процесс — но не решает задачу «менеджер не должен думать и выбирать».</a:t>
            </a:r>
          </a:p>
        </p:txBody>
      </p:sp>
    </p:spTree>
    <p:extLst>
      <p:ext uri="{BB962C8B-B14F-4D97-AF65-F5344CB8AC3E}">
        <p14:creationId xmlns:p14="http://schemas.microsoft.com/office/powerpoint/2010/main" val="269021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3AFF0A-9012-43FB-9C49-C4681079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5B514-7BB9-4737-ADC6-0FC55189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ВАРИАНТ 2 • АЛГОРИТМИЧЕСКАЯ АВТОМАТИЗАЦИЯ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1BD58-0EBF-48C9-AAE5-BA13E362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Весовая классификация по спецификации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1E6C-A0D0-43DD-AC16-D2360397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54B23-3BAB-41EC-AA6E-9E0D672B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578E2-55CC-449A-B474-CC7FD351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9A135-30B1-4801-8AC2-B19B8FF3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E9B54-5B92-4FC7-8297-1FA7BA2D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Спецификация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A244C-D995-4F8D-8164-004E539C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Модели • бренды • количество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DF0DB-CB12-4D88-9341-9AC3FA16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19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E373B-5E94-46DF-9143-5822864F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55E2C-F128-4857-B21C-1567D845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Веса оборудования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4A436-37CB-4205-8B66-7A806353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P(назначение | позиция)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3F88E-548C-45EE-9C2C-7C9907CC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CC578-784D-4748-A3E1-84B1FFAB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5DF8D-1385-4272-9B4E-2D504E1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Сумма и правила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B0230-D814-4A4D-ABEC-9874AAA5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Сигналы + ограничения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F29B8-0360-4EE2-81B9-103C002E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52C22-E3FE-4D20-B1E7-57EDFEF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47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Обложка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16AB9-E608-42E7-9F47-C36CD60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Бренд × назначение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605ED-43F1-493A-8204-4292942C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0BB13-3263-47B3-873C-1C94B9B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Минимальная модель данных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11601-5B06-4071-A8B1-73B5E808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DB7F3-0ECC-4B67-A4CE-CBB76502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24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Справочник назначений и типов систем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C9850-D3E0-4F34-A1D1-16914D45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F1371-F235-48DA-B7EE-0BB4D0AC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Категория, бренд и модель каждой позиции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9D1A6-6CC8-4C7C-889E-945592C9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DDE76-849B-4614-A6CD-4821FB6D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767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Матрица весов: позиция → назначение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0B2B47-6376-425F-949C-88DB6E28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4E30AF-4723-4A4B-900A-6F92605D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Правила конфликтов, пороги уверенности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75D69-9193-4A6F-B4FB-FE58B176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65650-E4A2-4E36-BCEE-FE4B23B9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291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Библиотека обложек с такой же разметкой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7CC22-2015-4DD8-B64F-65D01806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43250"/>
            <a:ext cx="3810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6D82E4-E67C-4279-B7B9-9C98E3A7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6512"/>
                </a:solidFill>
              </a:defRPr>
            </a:pPr>
            <a:r>
              <a:rPr sz="1425" b="1">
                <a:solidFill>
                  <a:srgbClr val="B66512"/>
                </a:solidFill>
              </a:rPr>
              <a:t>Оценка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820339-A841-4E8A-B557-F40240C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66512"/>
                </a:solidFill>
              </a:defRPr>
            </a:pPr>
            <a:r>
              <a:rPr sz="2400" b="1">
                <a:solidFill>
                  <a:srgbClr val="B66512"/>
                </a:solidFill>
              </a:rPr>
              <a:t>≈ 2 месяца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52F1AF-EB1C-408F-AE16-7EDAFAB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алгоритм, интерфейсы разметки и первичная настройка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57D227-E50A-403B-A84E-5BD044D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3C45"/>
                </a:solidFill>
              </a:defRPr>
            </a:pPr>
            <a:r>
              <a:rPr sz="2400" b="1">
                <a:solidFill>
                  <a:srgbClr val="B43C45"/>
                </a:solidFill>
              </a:rPr>
              <a:t>6+ месяцев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C1516A-607C-4249-828D-360F5CFD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создание обложек и коллажей дизайнерами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5D6BC1-F9D6-4EB7-944C-BD0EA2E9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5E6090-C3E7-485D-8C81-BB4B7A5C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Точность будет ограниченной: одинаковый состав может использоваться в разных сценариях, а часть ТЗ отсутствует.</a:t>
            </a:r>
          </a:p>
        </p:txBody>
      </p:sp>
    </p:spTree>
    <p:extLst>
      <p:ext uri="{BB962C8B-B14F-4D97-AF65-F5344CB8AC3E}">
        <p14:creationId xmlns:p14="http://schemas.microsoft.com/office/powerpoint/2010/main" val="1116068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07C52-CC8F-4895-AAA7-3A8F07D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71373-A7EC-4520-A381-8C95AB8D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БЫСТРОЕ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2D3D7-9CA0-484B-83DE-158B0734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Вариант 3. Одна абстрактная обложка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37FB4-5A3C-45D9-B40C-FDACB9F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E3FA9-5887-4172-B0DE-7C59AE8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7ED7B-61A0-4F9A-A9FD-A0C06469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625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58A6C-7592-4C56-BF17-765C8F5E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ОДИН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ВИЗУАЛ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2AC57-37EE-49C2-87EA-B58F61EE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04DC1-4D5A-4CD4-BC07-12B49DD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DAB2B-48C6-445C-83C2-AD2A1D12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019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E4303-EFA3-4008-AFA8-CAD7DB00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Нейтральная композиция без привязки к конкретному оборудованию и назначению.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56C0F-82B6-4375-86A1-7321526D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57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Почему это разумно сейчас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37479-6B80-4477-B8AE-BB98CA3C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14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1B306-89F9-4D18-BE5A-F7995C6D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Запуск без ожидания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EFA00-A24D-4FC0-AB6C-E244D57A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241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 зависит от дизайнерской очереди и разметки.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069A4-5408-4818-A933-12E8C4E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527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AC1AE-A4AE-42CE-A546-6F3AD1D5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Нулевая ошибка выбора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2B0EC-7B4B-4B3B-8420-9586C4CA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623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Нельзя поставить «не ту» систему или чужой бренд.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9F791-DD9B-4CD0-975D-B4F24E2A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90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FEA08-1722-40B8-A79B-C37B57C0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433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Стабильный фирменный стиль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CC1F1-AE9C-41FB-9BF6-FC019E74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005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КП выглядит единообразно на всех сценариях.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97226-9C2E-4E9A-8AF3-0FBA3A52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149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3F16E-3C14-4F89-857D-C745E97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845B"/>
                </a:solidFill>
              </a:defRPr>
            </a:pPr>
            <a:r>
              <a:rPr sz="1425" b="1">
                <a:solidFill>
                  <a:srgbClr val="17845B"/>
                </a:solidFill>
              </a:rPr>
              <a:t>Рекомендуемый базовый вариант</a:t>
            </a:r>
          </a:p>
          <a:p xmlns:a="http://schemas.openxmlformats.org/drawingml/2006/main">
            <a:pPr algn="ctr">
              <a:defRPr sz="1425" b="1">
                <a:solidFill>
                  <a:srgbClr val="17845B"/>
                </a:solidFill>
              </a:defRPr>
            </a:pPr>
            <a:r>
              <a:rPr sz="1425" b="1">
                <a:solidFill>
                  <a:srgbClr val="17845B"/>
                </a:solidFill>
              </a:rPr>
              <a:t>до готовности данных и библиотеки визуалов</a:t>
            </a:r>
          </a:p>
        </p:txBody>
      </p:sp>
    </p:spTree>
    <p:extLst>
      <p:ext uri="{BB962C8B-B14F-4D97-AF65-F5344CB8AC3E}">
        <p14:creationId xmlns:p14="http://schemas.microsoft.com/office/powerpoint/2010/main" val="259048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3BD294-6ACC-46D7-BF96-B13FF59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A0E04-A295-4979-A1FF-3C50BC2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ВАРИАНТ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7E89A-905B-4E8B-834A-BA2E047C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AI-анализатор контекста — отдельная платформа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14711-2DA4-4E04-9C9F-C6F84E45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CCCB3-A36D-4107-921E-A4C668A7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44579-D44B-40CC-9CDD-2D83E99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93604-C99A-4BCD-A3EA-9CB70EB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02F50-7B79-4BA9-8724-E42E3009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F3A91-8B6A-439A-B11C-5647778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Вход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13324-AA49-45E8-A460-3E13AB3C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Письма, PDF, JPEG, DWG, таблицы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3E360-2669-4484-87F1-0CED6987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C0D73-8396-4A87-9A67-E99E1540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38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EF799-EE62-4FDD-8F7C-B90430AA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7E810-F5D5-4BCB-BD16-613AA2FB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66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470FE-A885-456A-8275-B1C411F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Понимание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1E309-BAC2-49DF-8B37-8C2B1E9F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86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OCR, структура, сущности, схемы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DBC7A-8481-48E6-9C6D-2293B32B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08303-C9FB-4562-B690-C7A9ADF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38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7B52-99C0-4F5C-8B02-3BE0F0B0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09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D8C73-96BA-42F1-98AE-327DD56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FD7DE-1051-45BB-9D61-FF1D3A41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Классификация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34816-56E8-458E-8138-6AC2EC1D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Назначение + вероятность + пробелы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E0A0A-63B1-4B36-A42A-4F7DF81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D43EB-ED70-444A-965D-59166B1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38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7590F5-7599-477A-8BDC-0A4C621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AF738-D21A-4960-A588-FECBCED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66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0DACD-E93B-4B55-AA30-5569FB69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Генерация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DA1A3C-0778-4B43-BD0F-B9F4C21A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Обложка, описание, состав решения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5FE19-333F-4E2F-A196-4EFC9F72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09841-6DA0-4E84-A299-9DF4F81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36E3A-AA98-43DC-9D79-82DD8CF7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8F5B8-57AD-4284-B19B-CA3F333F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66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458FA-B4B2-4A52-B336-43A47D0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Контроль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0B6763-BF05-4978-BEFA-38964716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Факты, бренды, уверенность, человек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A53CEF-E289-4AD5-A452-2EE392D3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8F8821-D5F1-47B6-A2C9-E94345EF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3C45"/>
                </a:solidFill>
              </a:defRPr>
            </a:pPr>
            <a:r>
              <a:rPr sz="1050" b="1">
                <a:solidFill>
                  <a:srgbClr val="B43C45"/>
                </a:solidFill>
              </a:rPr>
              <a:t>Необходимое правило безопасности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F691A-06DF-4FD4-B1EA-EBE640E8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Если данных недостаточно или уверенность ниже порога — система не «угадывает», а формирует список вопросов и отправляет заявку инженеру.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76C86A-2912-45B0-9536-A6B4DC3C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A68"/>
                </a:solidFill>
              </a:defRPr>
            </a:pPr>
            <a:r>
              <a:rPr sz="1500" b="1">
                <a:solidFill>
                  <a:srgbClr val="123A68"/>
                </a:solidFill>
              </a:rPr>
              <a:t>AI снижает ручную работу только там, где факты реально присутствуют в переписке и файлах.</a:t>
            </a:r>
          </a:p>
        </p:txBody>
      </p:sp>
    </p:spTree>
    <p:extLst>
      <p:ext uri="{BB962C8B-B14F-4D97-AF65-F5344CB8AC3E}">
        <p14:creationId xmlns:p14="http://schemas.microsoft.com/office/powerpoint/2010/main" val="20368377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0BFDF3-9ADD-4745-BF22-D4BDE09D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E73E4-4257-42E1-BB0A-086590C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НЕСКОЛЬКО МОДЕЛЕЙ • ЕДИНАЯ ПРОВЕРЯЕМАЯ СХЕМА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223D8-C1D2-4101-A613-A91C4CD7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Архитектура AI-конвейера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F4A0C-AA13-4FFD-BD4E-995AC41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C2BC7-CAB8-40AC-937F-624F7ABC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C1E0-A219-4A6E-9E13-8CCE0567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EE836-B5F6-4F18-B5E4-D4EC6C1D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Приём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F14FE-AECC-41AF-BFDF-EAE946E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Почта • CRM • файлы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E4EF6-D387-438D-BBA1-88E8F02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9C13E-A17D-499C-98A8-13A98FB3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95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CB0EE-8354-4D65-B29E-14F75FA8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85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Документы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98675-8D19-4FD0-9D63-9C1DA456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OCR • таблицы • layout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B5388-23FB-45E5-BD22-AC3B1A6E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66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570FE-9BFA-4FE9-9F82-4FB04F5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E804B-E829-4D07-A62E-7787B0B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CAD / схемы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2AB11-F51B-4286-BECA-29D8F5B7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DWG → DXF • слои • символы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A8037-1C73-45E5-B971-AD9359BF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66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AE9BA-3086-4766-A8CA-16627BBA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F8298-E91D-44E9-A439-24C30C9E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85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Нормализация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94875-5212-479D-9150-1DDC062D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Единый JSON заявки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66274-64BB-4753-9CA9-D0D4105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2BB6E-48FB-4389-833F-C59D544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4BA4E-B013-4B2C-AE43-A4A23026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Поиск фактов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3A7A3-8C44-47A7-A511-87FF8DB0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RAG + каталог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87140-BD51-434B-A6FE-FA040EF8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1ABC7-2673-4C3C-AE2B-F213F57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2582A-8693-49B5-9354-71236308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00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Классификатор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E853D-8F6C-4850-A8FF-A30C9E92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6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Веса + LLM/VLM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4379D-7BA2-4DCD-B6AF-62F92AA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451ED-F0E4-436C-8BA0-8EEFBE7A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AFBD9-D406-4AB5-A009-1DD2E49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Генераторы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C7953-3E40-4011-9AC8-263FC2E5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Текст + композиция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FFCA8C-5758-4EDC-99CF-F8D8E02D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C88AF-3665-43CB-B594-94D85D18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C8BD08-9300-42DC-9D59-E419506F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Верификатор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DAB54-AA11-4E91-9C02-BCD7B7FD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6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Пороги + человек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D2E7B3-9086-452B-A300-FDEAC312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A57252-0662-4C25-8AD6-496FCA0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Кандидаты технологий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F20D90-EF85-4AFE-B718-C82DB3A1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PaddleOCR-VL / Docling  •  Qwen3-VL  •  BGE-M3  •  Grounding DINO  •  ODA + ezdxf  •  Qwen3  •  ComfyUI + FLUX/Qwen Image</a:t>
            </a:r>
          </a:p>
        </p:txBody>
      </p:sp>
    </p:spTree>
    <p:extLst>
      <p:ext uri="{BB962C8B-B14F-4D97-AF65-F5344CB8AC3E}">
        <p14:creationId xmlns:p14="http://schemas.microsoft.com/office/powerpoint/2010/main" val="634045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43F0E-9EEC-4213-A3B6-FF6598FF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153BA-85C3-4D30-8C6F-1BE110F7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ВИЗУАЛЬНЫЙ КОНВЕЙЕР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5EA5F-3A3B-4C7C-BB2D-7A89952E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Генерация обложки: оборудование должно оставаться настоящим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53CF0-E53D-470D-94F7-B0F9E287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11A98-8CD9-47DD-8914-4EEEF181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84884-4449-4E9D-B9CB-6261BBB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86955-148B-41A9-A37A-D98B417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3C45"/>
                </a:solidFill>
              </a:defRPr>
            </a:pPr>
            <a:r>
              <a:rPr sz="1050" b="1">
                <a:solidFill>
                  <a:srgbClr val="B43C45"/>
                </a:solidFill>
              </a:rPr>
              <a:t>Нельзя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125F0-2C2D-4E13-8085-EE639E67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1450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Просить модель заново нарисовать оборудование: она меняет логотипы, кнопки, порты, пропорции и создаёт несуществующие изделия.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D7A83-015A-4874-B7A3-AFF22A27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46FCF-CE2B-486F-BF69-3E7A1CC4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A1D24-887B-408E-A2C3-7DAFFCBE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ABC08-8DA9-4D97-A16E-A7F88446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Фото товара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05149-26A3-4363-B4AE-13C5E7AC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Оригинал из каталога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B5704-F349-4CC0-BC32-8F28D44E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52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2D546-EFFE-4AEB-8A11-74D838DF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E8D3E-86FA-4767-A671-EA6EEA8D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5A702-0B33-450F-9504-19C695D1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24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E6F8B-4018-4E58-9F1C-A48583C2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05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Маска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1CFDE-97DB-41C0-AC9F-F0756F5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Удаление фона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CCFD6-557B-4C0A-A953-7D8886C0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A6A0F-CB99-44AA-AB8A-C88F610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95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72350-A6A7-4F93-982B-C876ACDF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67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D9B1B-FB0E-46CF-9627-5456ACFD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03AC3-776B-43BA-A3E6-290EA264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05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Коллаж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F6A66-64B8-408F-8647-7D248EE6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Шаблон + композиция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95C39-3DDA-4D00-8573-4D503B56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7FB4F-F8F5-4474-A416-C2B3DD09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42B13-EC71-4FD9-A21A-5F2B466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67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BD06CE-9950-4093-BD79-D0B98EED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24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8E7470-C226-405B-B496-AB5684B5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05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AI-слой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B533A1-C91E-47FB-B3CF-38696EDD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Фон, свет, тени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8A637-B1F4-40C1-B5EA-7FBD24C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EB62D-2B7B-4631-B53E-84CCDA17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95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E0581A-8938-4976-9157-FD5C390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67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52A5EA-6FEF-459B-BE17-6547ACBB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6A6F3D-76FB-4A0A-A270-9EA11F77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05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Финал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A48D65-B668-4A70-A172-043F8277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Лого и текст поверх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FD5EBA-18A3-4B83-BC97-53E497A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4967DD-5EC6-47D5-A70C-9E97D874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Материалы для пилота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B37307-1523-4C67-BB17-1546F37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Фото каждого блока оборудования + не менее 100 эталонных готовых композиций.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AD136E-A43C-4C9C-8AFC-42372CAF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D26D50-ABFD-4B41-81E9-9F78EA3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958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Что обучаем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6D9D39-0013-4311-B0B8-C7873A20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Несколько стилевых LoRA и правила композиции — не отдельную модель на каждую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15235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07D1F7-F8EB-4131-BA1E-BFF7806E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88EAC-7A3B-4A52-BDDB-EA3C7D68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ГЕНЕРАЦИЯ ТЕКСТА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F6CA5-DF10-4952-9EAB-CF2CB76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Описание системы: факты из базы, смысл и стиль — от 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25D3F-ACF9-4638-923F-87B579C0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1CB16-E0DC-46EF-9BC7-EC761F27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AD549-D24A-4BB5-994F-4894DEA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0E08D-54F4-4497-BA13-127479B8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Каталог и БД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6A7C8-FB9C-4DEA-B171-D2DA98EC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Характеристики, совместимость, бренды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84B73-1885-4D0D-9867-166945B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12900-A97D-4307-8A08-E731EFFE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Заявка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4357B-7A88-4D5F-A89D-B4DEFD31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Назначение, ограничения, объект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05144-594A-4379-BD15-F16B8D1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FC624-B537-4575-AF2D-985CB791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66B98-5E72-4862-A958-4FA57BF5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Только найденные подтверждённые факты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15A96-0165-42B5-AF1D-3EF413A7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63173-AB68-4A8C-9891-310E713A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43100"/>
            <a:ext cx="28575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A9DF6-60CC-4231-B4DE-60E3B294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Языковая модель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B55EA-B33A-44B9-81D4-8801FB30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FDA27-E83E-4B4D-9092-96692327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384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СТРУКТУРА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A25A5-236B-4CB3-A1ED-94A21D91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482E9-16B1-4738-835C-7378CA43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7660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КОРПОРАТИВНЫЙ СТИЛЬ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F71A9-3AE2-426E-98A5-4F5E73F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95816-192E-481C-B7D8-D4D0772D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147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3–5 ВАРИАНТОВ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22B63-5CCB-4DB4-A8AE-5C9872C7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LoRA учит манере письма.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Факты не «зашиваются» в LoRA.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5B6D0-D29E-4B38-BE72-ABD82198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74DF6-A162-4F94-A898-941DF1D9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914650" cy="32766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FCCD5-1AEC-4ABE-A3BA-E9EF1A79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85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845B"/>
                </a:solidFill>
              </a:defRPr>
            </a:pPr>
            <a:r>
              <a:rPr sz="1500" b="1">
                <a:solidFill>
                  <a:srgbClr val="17845B"/>
                </a:solidFill>
              </a:rPr>
              <a:t>Проверенный результат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2B09A-C63E-4EF1-8FF3-67475660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66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7CA17-D8BE-407A-A5D4-4B47E4F7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19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Описание назначения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26CB2-F2D0-4283-B9F3-6587F87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76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Без выдуманных характеристик.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E811D-2CE9-41C7-BD6F-76986660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28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43014-94B4-43C5-AFA5-CA14737C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81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Состав решения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FF2CF-27CA-43A1-B5A0-84A80560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38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Ссылки на позиции и источники.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72576-BC89-4A08-8DBA-5803CD69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90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DED4C9-E62D-4371-9522-D4A44609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Стоп-сигналы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94D0CC-D284-417D-81CB-17E00C30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00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Недостающие данные и вопросы.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FEE2CC-BAE7-4F17-BCB8-2EEB80AF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64EA72-2C89-43DC-B3E0-C81E8E4E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Данные обучения: 100–200 примеров — концепт; 500–1000 — стабильный стиль; тысячи — широкое покрытие сценариев.</a:t>
            </a:r>
          </a:p>
        </p:txBody>
      </p:sp>
    </p:spTree>
    <p:extLst>
      <p:ext uri="{BB962C8B-B14F-4D97-AF65-F5344CB8AC3E}">
        <p14:creationId xmlns:p14="http://schemas.microsoft.com/office/powerpoint/2010/main" val="381512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8B2351-817F-403F-A609-1E203145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6BC39-986D-48B9-A188-DBA9D2A6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ОРГАНИЗАЦИОННАЯ 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0CAA7-5EAE-439E-A81A-35D76476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Работа не исчезает — она переносится в данные и контроль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F4F30-D587-4F4C-9805-B91A268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77D3C-D4D5-4883-9AF7-7D30C32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F523E-06AC-43B0-AF65-12A67C0D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EEFA2-879D-4E0D-89D8-824EC929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CE789-1DA6-4749-8C42-DEBE1EE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7753F-29BC-43E4-B8B7-AFC725F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52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Владелец продукта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03593-1A7E-431E-8066-CC1FDF9F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Определяет сценарии, метрики и допустимый риск.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E24B1-7B7E-4E41-B109-E78267ED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81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76C18-DE82-4A7B-AA85-5734A35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862A9-3247-4CA3-AC74-5B8A34F8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5EA90-FF4E-4924-A153-6664428E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Инженеры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C8ABD-D3E5-4F3C-9B39-90797F23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Утверждают таксономию, веса, правила и эталоны.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55A6A-0103-47F1-9963-7447783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BB281-79B2-4F16-BC29-44C5B5A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5B6CA-2C3D-4EE2-8D4E-BDE5C1B9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FFF93-2606-4C94-8B31-6112CD72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Data / контент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AB83F-6CC9-4C14-ABFD-333AE274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Размечает историю, изображения, модели и назначения.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808F0-67DF-47C2-81D1-65265E3F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05B1C-2371-47EC-A2C8-7640B3FF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F546C-2AB6-4BEA-81BC-32BC9EE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98DD9-929B-4D7C-9235-DC36509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52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Дизайнеры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3A3FD-8C23-4ED4-BB36-8ED8DBC0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Создают эталонные композиции и визуальные правила.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0BC92-68C6-440E-AA94-D777FA5D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739B7-3019-4682-A89E-3F170BB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F75DE-3D2A-4614-A519-53385DF8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85078-E1A7-4C74-9861-CC89AA9C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ML / разработка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033DC-C32C-4B92-9B72-800FC43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Строит конвейер, модели, мониторинг и интерфейсы.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3FC542-5728-483D-A1BF-9AA0160C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0F0E1-B13C-4836-B645-6DF33142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BD4530-0463-45ED-A4FC-30AF41B4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F85143-DF1C-4802-AB79-756290E6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Менеджеры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17ECA5-ED55-4CB9-8750-1B81DC4E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Исправляют ошибки и тем самым создают обратную связь.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35DE62-1F39-404B-8C62-BDCDAFC0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26F249-1F7F-4E5D-85E2-6C83F3A2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6512"/>
                </a:solidFill>
              </a:defRPr>
            </a:pPr>
            <a:r>
              <a:rPr sz="1050" b="1">
                <a:solidFill>
                  <a:srgbClr val="B66512"/>
                </a:solidFill>
              </a:rPr>
              <a:t>Скрытая стоимость проекта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833C1E-A8DD-4123-899E-29B3CA5A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62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Разметка и поддержание справочников — постоянный бизнес-процесс. Без ответственных владельцев точность будет деградировать даже при хороших моделях.</a:t>
            </a:r>
          </a:p>
        </p:txBody>
      </p:sp>
    </p:spTree>
    <p:extLst>
      <p:ext uri="{BB962C8B-B14F-4D97-AF65-F5344CB8AC3E}">
        <p14:creationId xmlns:p14="http://schemas.microsoft.com/office/powerpoint/2010/main" val="9880336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CEC2F-3A7C-4BA0-9721-4806214F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EF92D-E246-45CC-BE41-B5E05F2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МОДЕЛИ И ЖЕЛЕЗО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FD259-DB22-4DBF-AB80-596EDF39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Инфраструктура: от пилота до производственного контура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E8088-D5E6-41B3-9057-BC5AD3F3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321E6-871B-4A9D-A5E2-EB04BC18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14760-227A-43BD-8631-043D3A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0B43C-C485-4A6C-813C-8A793FF9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A29B9-C108-4644-B933-4B624CA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ПИЛОТ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D2D94-2AEC-470F-A519-C64AA97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RTX 5090 • 32 GB VRAM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9F972-39C8-43F0-95ED-2A54C40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128 GB RAM • 4 TB NVMe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6A405-F840-4DD4-8C4C-8E4881DA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9982C-CFF5-4DDE-98C3-A122D69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OCR, embeddings, 8B VLM/LLM, LoRA и изображения — последовательно.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0A8F4-3217-462F-99B3-5F48BBA5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81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3C856-84C4-42B3-B043-03A7F406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1AB41-9FB4-4175-B930-6260018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СЕРЬЁЗНАЯ СТАНЦИЯ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EA257-15B0-46FD-AE3B-CA5287A5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RTX PRO 6000 • 96 GB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88510-2565-42A9-8DB0-24CB440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256 GB ECC 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04BD3-6792-4E8E-9100-AAA05363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330A4-F125-4201-A741-DD0D7803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Крупнее модели, больше контекста, стабильная локальная эксплуатация.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EC0DE-E9ED-4B6E-83D8-433B24D6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19996-736D-4ED6-B171-AF7FA5E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4A894-FF64-4CF3-85BE-2CA058E6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66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МАСШТАБ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1F389-F73D-4467-8033-17F21865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2× RTX PRO 6000 • 192 GB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886A1-4CCE-49DE-80EF-A8AF3235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512 GB RAM • Threadripper Pro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5EB7F-8189-46F7-A4C6-D5BBE906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ACADD-CEDE-4582-93AF-BCDCFEB9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Параллельные сервисы, обучение и высокая пропускная способность.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299B6-A719-4C4E-9B62-F322C4A7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239EA-5241-4968-A659-996F5734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Для проверки идеи достаточно пилотной машины. Покупать масштаб до подтверждения качества классификации — преждевременно.</a:t>
            </a:r>
          </a:p>
        </p:txBody>
      </p:sp>
    </p:spTree>
    <p:extLst>
      <p:ext uri="{BB962C8B-B14F-4D97-AF65-F5344CB8AC3E}">
        <p14:creationId xmlns:p14="http://schemas.microsoft.com/office/powerpoint/2010/main" val="8031273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E6BEAE-25B5-4F45-BE19-F9B2CA29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18BC0-F121-416B-B19C-1C592D0F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ДОРОЖНАЯ КАРТА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B7414-F950-496A-9C2C-96643C5D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План внедрения: каждая стадия должна доказать ценность следующей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8E7F1-4A92-4754-B4D6-157CD82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5EE52-BFC9-498B-87AA-D3227D44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E8804-E9F9-45C0-9605-8EBC481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F6A0F-D872-4B53-86A5-DF67105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27B11-AC7B-4B90-83B4-660CAF7C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79EC2-507F-4E21-AA3F-3B4E7E1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BDCDB-443D-4608-937F-A5D52D6F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1F1C8-4294-4B65-8B90-2176FDFE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52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6CD60-D7C5-40EA-A837-ED60E99A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Статичная обложка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35C99-6068-4498-AFF0-02BC57ED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1–5 дней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9C32F-8194-4121-B7BF-BE660EF7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845B"/>
                </a:solidFill>
              </a:defRPr>
            </a:pPr>
            <a:r>
              <a:rPr sz="825" b="1">
                <a:solidFill>
                  <a:srgbClr val="17845B"/>
                </a:solidFill>
              </a:rPr>
              <a:t>ЗАПУСК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ABF61-3670-4CF1-A85B-CB46068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DD436-6A3D-4885-9824-BA17F02E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147A3-F79A-4C32-B66C-5BDA2F56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05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374C6-71B5-4554-972A-A14B1396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62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358A7-71DE-466D-9C52-8885C46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52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0–1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E1C74-69CC-44BA-8180-0A162B9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33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Инвентаризация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821C8-5FAB-44C0-8686-D7D14EF3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Роли • таксономия • метрики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8E6E8-748C-42FE-9C09-A77193EC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DFF"/>
                </a:solidFill>
              </a:defRPr>
            </a:pPr>
            <a:r>
              <a:rPr sz="825" b="1">
                <a:solidFill>
                  <a:srgbClr val="3D8DFF"/>
                </a:solidFill>
              </a:rPr>
              <a:t>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0CC7C-11DE-432A-AB30-406EF2CD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95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6BDC3-E5AE-445B-9EDD-A9D7EA3D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95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83F3C-48D9-42A0-B330-CAE19B58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29B3E-DC6A-4D44-8470-E99A800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62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E0E9D-C088-4BCB-90DD-3741579E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52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1–3 мес.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16BCE-FE07-48FD-A067-3504865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33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Весовой классификатор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AA93A6-F296-4E53-8F1C-7F3011D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История • веса • offline-тест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70030F-6752-40A5-9B46-563C914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86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DFF"/>
                </a:solidFill>
              </a:defRPr>
            </a:pPr>
            <a:r>
              <a:rPr sz="825" b="1">
                <a:solidFill>
                  <a:srgbClr val="3D8DFF"/>
                </a:solidFill>
              </a:rPr>
              <a:t>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59E73-7E93-4642-A6A6-AD49AACD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E7048-080A-4058-87BE-C67572DC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4F0F2-BEAE-462B-8DC3-6151626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05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F2CF9-CA15-42BA-BF86-816EDFE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62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A1712C-CAD2-4C2D-8316-3887C686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52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3–5 мес.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35F60E-AD9D-47B5-A147-975F8D7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AI-пилот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E4C065-40F8-4220-8377-80FA8DCC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Почта • OCR • файлы • confidence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E6DF16-5C66-47EB-9796-DEB794E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A68"/>
                </a:solidFill>
              </a:defRPr>
            </a:pPr>
            <a:r>
              <a:rPr sz="825" b="1">
                <a:solidFill>
                  <a:srgbClr val="123A68"/>
                </a:solidFill>
              </a:rPr>
              <a:t>GATE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938C5A-F8A6-4A22-9988-42391959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95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99B957-023D-4227-8EB7-D52048F0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95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F6E0DD-8220-4CA1-8DB5-623125E0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05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9F8176-5F1A-4111-A99E-CECB2FB2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9E68D9-6A40-41CC-9950-238C9DA8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52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5–9+ мес.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7127F5-9FDB-4C0B-8E2C-115923F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33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Контент и генерация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CD4B2D-3B18-4A43-95AC-65333CF1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19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100+ композиций • тексты • A/B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067225-8672-4B97-B8E1-C36B277F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86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A68"/>
                </a:solidFill>
              </a:defRPr>
            </a:pPr>
            <a:r>
              <a:rPr sz="825" b="1">
                <a:solidFill>
                  <a:srgbClr val="123A68"/>
                </a:solidFill>
              </a:rPr>
              <a:t>GATE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CFF782-0E54-49CB-AA85-823E53BB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DA7420-E44F-4BE2-8DA8-4EF46043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Условия перехода к следующей стадии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509FCD-0EC7-4268-8D9E-C8033775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✓ Есть владелец данных   ✓ Согласована таксономия   ✓ Измерена точность   ✓ Определён порог ручной проверки   ✓ Подтверждена экономия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8843976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5DC93-9095-490A-B9AA-E8820DB6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87CAE-40A4-4A85-B673-C4BE788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43FA9-AADC-4582-A6AE-CC369A3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Что предлагается утвердить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8BDEB-BA5A-4B9F-9556-D99E77E8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F8EBE-1BA5-47C8-AC5E-BB5FD2D3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FA8DE-3CDC-46CE-9D52-860E62D9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0104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05AB8-24D8-4004-A707-18127384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РЕШЕНИЕ НА 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132B0-BCF8-4A94-866E-01D1637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09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Запустить статичную обложку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и подготовку данных для пилота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55035-BAFA-4276-AD82-9DFB383B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AAF00-EEFA-4465-AC18-3761D8C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723E5-DD8C-4714-B586-DF37554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956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Назначить владельца таксономии систем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065EB-78AB-4777-9FE7-519E2353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FE603-F3A0-4BFB-8FFD-262CF07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1C1D9-D72F-4226-B881-ECB71E17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52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Выделить исторические заявки и итоговые КП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BF981-BC17-49AA-8530-2C8065C4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8557E-6DE1-4206-9FF5-B12A3C8C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16797-ED44-4B5F-8341-ACA401D9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100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Согласовать метрики: точность, время, доля ручной проверки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6030B-5F02-41D7-ACC1-88EB2C64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CF6C1-BC66-4FCE-A464-E12CE6F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E53C5-BFB5-4023-8EE4-5E1439C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672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Не заказывать массовый дизайн до проверки классификации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8053F-C5E6-45A4-88DF-5D42D0D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657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3A946-6ABE-4BD9-9EA8-3011275E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845B"/>
                </a:solidFill>
              </a:defRPr>
            </a:pPr>
            <a:r>
              <a:rPr sz="1050" b="1">
                <a:solidFill>
                  <a:srgbClr val="17845B"/>
                </a:solidFill>
              </a:rPr>
              <a:t>Быстрый эффект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CF69B-A99D-4C81-AA97-D1F8933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Единый вид КП</a:t>
            </a:r>
          </a:p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без ошибок выбора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D032C-B02E-4503-AE9B-2AB4C72B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3657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C1F76-E485-4583-BA32-15587E76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8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Стратегический эффект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DD7DD-2A0A-4616-9D3B-3B60649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A68"/>
                </a:solidFill>
              </a:defRPr>
            </a:pPr>
            <a:r>
              <a:rPr sz="1500" b="1">
                <a:solidFill>
                  <a:srgbClr val="123A68"/>
                </a:solidFill>
              </a:rPr>
              <a:t>Платформа, которая понимает заявку, объясняет решение и знает предел своей уверенности.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1FCBC-EB85-4686-A979-4626F313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Следующий шаг: 2-недельный аудит данных и дизайн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746743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2026-08-28T13:13:52.0720000Z</dcterms:created>
  <dcterms:modified xsi:type="dcterms:W3CDTF">2026-08-28T13:13:52.0720000Z</dcterms:modified>
</coreProperties>
</file>